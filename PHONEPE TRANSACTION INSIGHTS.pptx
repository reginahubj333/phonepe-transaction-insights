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70" r:id="rId9"/>
    <p:sldId id="271" r:id="rId10"/>
    <p:sldId id="272" r:id="rId11"/>
    <p:sldId id="273" r:id="rId12"/>
    <p:sldId id="264" r:id="rId13"/>
    <p:sldId id="265" r:id="rId14"/>
    <p:sldId id="274" r:id="rId15"/>
    <p:sldId id="275" r:id="rId16"/>
    <p:sldId id="276" r:id="rId17"/>
    <p:sldId id="266" r:id="rId18"/>
    <p:sldId id="277" r:id="rId19"/>
    <p:sldId id="267" r:id="rId20"/>
    <p:sldId id="278" r:id="rId21"/>
    <p:sldId id="279" r:id="rId22"/>
    <p:sldId id="268" r:id="rId23"/>
    <p:sldId id="281" r:id="rId24"/>
    <p:sldId id="280" r:id="rId25"/>
    <p:sldId id="269"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7CC3EA3-209A-4B9B-A9B8-81FDA9C33C15}">
          <p14:sldIdLst>
            <p14:sldId id="256"/>
            <p14:sldId id="257"/>
            <p14:sldId id="258"/>
            <p14:sldId id="259"/>
            <p14:sldId id="260"/>
            <p14:sldId id="261"/>
            <p14:sldId id="262"/>
            <p14:sldId id="270"/>
            <p14:sldId id="271"/>
            <p14:sldId id="272"/>
            <p14:sldId id="273"/>
            <p14:sldId id="264"/>
            <p14:sldId id="265"/>
            <p14:sldId id="274"/>
            <p14:sldId id="275"/>
            <p14:sldId id="276"/>
            <p14:sldId id="266"/>
            <p14:sldId id="277"/>
            <p14:sldId id="267"/>
            <p14:sldId id="278"/>
            <p14:sldId id="279"/>
            <p14:sldId id="268"/>
            <p14:sldId id="281"/>
            <p14:sldId id="280"/>
            <p14:sldId id="269"/>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7" autoAdjust="0"/>
    <p:restoredTop sz="94637" autoAdjust="0"/>
  </p:normalViewPr>
  <p:slideViewPr>
    <p:cSldViewPr snapToGrid="0">
      <p:cViewPr varScale="1">
        <p:scale>
          <a:sx n="69" d="100"/>
          <a:sy n="69" d="100"/>
        </p:scale>
        <p:origin x="696"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77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296605-9365-4CA4-9A1F-4BCD8C2812FB}"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IN"/>
        </a:p>
      </dgm:t>
    </dgm:pt>
    <dgm:pt modelId="{0C415654-66AB-4D3B-AA34-954C5EF156FC}">
      <dgm:prSet phldrT="[Text]"/>
      <dgm:spPr/>
      <dgm:t>
        <a:bodyPr/>
        <a:lstStyle/>
        <a:p>
          <a:r>
            <a:rPr lang="en-US" dirty="0"/>
            <a:t>1. Data Extraction</a:t>
          </a:r>
          <a:endParaRPr lang="en-IN" dirty="0"/>
        </a:p>
      </dgm:t>
    </dgm:pt>
    <dgm:pt modelId="{B7CBCDF9-A717-474B-89B1-864D4B8717B4}" type="parTrans" cxnId="{921A56FB-BC9D-4F30-8FE8-9431BD58E96A}">
      <dgm:prSet/>
      <dgm:spPr/>
      <dgm:t>
        <a:bodyPr/>
        <a:lstStyle/>
        <a:p>
          <a:endParaRPr lang="en-IN"/>
        </a:p>
      </dgm:t>
    </dgm:pt>
    <dgm:pt modelId="{E0A1A745-B805-43E2-9839-B006BFE16AA1}" type="sibTrans" cxnId="{921A56FB-BC9D-4F30-8FE8-9431BD58E96A}">
      <dgm:prSet/>
      <dgm:spPr/>
      <dgm:t>
        <a:bodyPr/>
        <a:lstStyle/>
        <a:p>
          <a:endParaRPr lang="en-IN"/>
        </a:p>
      </dgm:t>
    </dgm:pt>
    <dgm:pt modelId="{BB707879-5242-41BB-BFF3-CF6936E1B40B}">
      <dgm:prSet phldrT="[Text]"/>
      <dgm:spPr/>
      <dgm:t>
        <a:bodyPr/>
        <a:lstStyle/>
        <a:p>
          <a:r>
            <a:rPr lang="en-US" dirty="0"/>
            <a:t>2. SQL Queries</a:t>
          </a:r>
          <a:endParaRPr lang="en-IN" dirty="0"/>
        </a:p>
      </dgm:t>
    </dgm:pt>
    <dgm:pt modelId="{CFB00B94-2D3F-4C9D-BE20-FF3645AFCD50}" type="parTrans" cxnId="{79EAAFDB-BF16-4138-A76E-925563C3BFAB}">
      <dgm:prSet/>
      <dgm:spPr/>
      <dgm:t>
        <a:bodyPr/>
        <a:lstStyle/>
        <a:p>
          <a:endParaRPr lang="en-IN"/>
        </a:p>
      </dgm:t>
    </dgm:pt>
    <dgm:pt modelId="{58F56E46-25B3-461D-8336-D63547B96758}" type="sibTrans" cxnId="{79EAAFDB-BF16-4138-A76E-925563C3BFAB}">
      <dgm:prSet/>
      <dgm:spPr/>
      <dgm:t>
        <a:bodyPr/>
        <a:lstStyle/>
        <a:p>
          <a:endParaRPr lang="en-IN"/>
        </a:p>
      </dgm:t>
    </dgm:pt>
    <dgm:pt modelId="{1288821C-7E1F-48F1-A4D4-D50DE093E9B7}">
      <dgm:prSet phldrT="[Text]"/>
      <dgm:spPr/>
      <dgm:t>
        <a:bodyPr/>
        <a:lstStyle/>
        <a:p>
          <a:r>
            <a:rPr lang="en-US" dirty="0"/>
            <a:t>3. Visualization</a:t>
          </a:r>
          <a:endParaRPr lang="en-IN" dirty="0"/>
        </a:p>
      </dgm:t>
    </dgm:pt>
    <dgm:pt modelId="{F88E1665-3278-4E46-95B9-A11F8C25175E}" type="parTrans" cxnId="{F83ABDBF-FDA1-4B1F-8139-4E0877EE2745}">
      <dgm:prSet/>
      <dgm:spPr/>
      <dgm:t>
        <a:bodyPr/>
        <a:lstStyle/>
        <a:p>
          <a:endParaRPr lang="en-IN"/>
        </a:p>
      </dgm:t>
    </dgm:pt>
    <dgm:pt modelId="{25FDB698-8E22-4478-8E25-A7A8A8B0DDF1}" type="sibTrans" cxnId="{F83ABDBF-FDA1-4B1F-8139-4E0877EE2745}">
      <dgm:prSet/>
      <dgm:spPr/>
      <dgm:t>
        <a:bodyPr/>
        <a:lstStyle/>
        <a:p>
          <a:endParaRPr lang="en-IN"/>
        </a:p>
      </dgm:t>
    </dgm:pt>
    <dgm:pt modelId="{8E0209F1-BCF2-4D3D-91D0-C133711B5A9D}">
      <dgm:prSet phldrT="[Text]"/>
      <dgm:spPr/>
      <dgm:t>
        <a:bodyPr/>
        <a:lstStyle/>
        <a:p>
          <a:r>
            <a:rPr lang="en-US" dirty="0"/>
            <a:t>4. Streamlit</a:t>
          </a:r>
          <a:endParaRPr lang="en-IN" dirty="0"/>
        </a:p>
      </dgm:t>
    </dgm:pt>
    <dgm:pt modelId="{AFFC4F63-F61B-4C52-BEEE-053C556E81C6}" type="parTrans" cxnId="{5F496D17-AB69-49F9-8CF1-F3DAE67A3568}">
      <dgm:prSet/>
      <dgm:spPr/>
      <dgm:t>
        <a:bodyPr/>
        <a:lstStyle/>
        <a:p>
          <a:endParaRPr lang="en-IN"/>
        </a:p>
      </dgm:t>
    </dgm:pt>
    <dgm:pt modelId="{679BCFC3-169B-499D-B4DC-4B9C342DC479}" type="sibTrans" cxnId="{5F496D17-AB69-49F9-8CF1-F3DAE67A3568}">
      <dgm:prSet/>
      <dgm:spPr/>
      <dgm:t>
        <a:bodyPr/>
        <a:lstStyle/>
        <a:p>
          <a:endParaRPr lang="en-IN"/>
        </a:p>
      </dgm:t>
    </dgm:pt>
    <dgm:pt modelId="{FAB8B145-4A2C-46F8-A8BE-8C7FC0ABCE60}">
      <dgm:prSet phldrT="[Text]"/>
      <dgm:spPr/>
      <dgm:t>
        <a:bodyPr/>
        <a:lstStyle/>
        <a:p>
          <a:r>
            <a:rPr lang="en-US" dirty="0"/>
            <a:t>5. Insights &amp; Presentation</a:t>
          </a:r>
          <a:endParaRPr lang="en-IN" dirty="0"/>
        </a:p>
      </dgm:t>
    </dgm:pt>
    <dgm:pt modelId="{E254E75C-64B1-4B65-B0D3-39CFA2014B97}" type="parTrans" cxnId="{D60E71EA-6E4E-46EA-A9F7-1F1B11FC5986}">
      <dgm:prSet/>
      <dgm:spPr/>
      <dgm:t>
        <a:bodyPr/>
        <a:lstStyle/>
        <a:p>
          <a:endParaRPr lang="en-IN"/>
        </a:p>
      </dgm:t>
    </dgm:pt>
    <dgm:pt modelId="{82864DA3-0D4D-4605-99CB-ECBCAB23324A}" type="sibTrans" cxnId="{D60E71EA-6E4E-46EA-A9F7-1F1B11FC5986}">
      <dgm:prSet/>
      <dgm:spPr/>
      <dgm:t>
        <a:bodyPr/>
        <a:lstStyle/>
        <a:p>
          <a:endParaRPr lang="en-IN"/>
        </a:p>
      </dgm:t>
    </dgm:pt>
    <dgm:pt modelId="{97667C1B-1BA4-4C01-99CC-88BAB4EFFB9D}" type="pres">
      <dgm:prSet presAssocID="{DD296605-9365-4CA4-9A1F-4BCD8C2812FB}" presName="cycle" presStyleCnt="0">
        <dgm:presLayoutVars>
          <dgm:dir/>
          <dgm:resizeHandles val="exact"/>
        </dgm:presLayoutVars>
      </dgm:prSet>
      <dgm:spPr/>
    </dgm:pt>
    <dgm:pt modelId="{7265ECB8-0151-4E37-953B-63CD11DE3C5A}" type="pres">
      <dgm:prSet presAssocID="{0C415654-66AB-4D3B-AA34-954C5EF156FC}" presName="node" presStyleLbl="node1" presStyleIdx="0" presStyleCnt="5">
        <dgm:presLayoutVars>
          <dgm:bulletEnabled val="1"/>
        </dgm:presLayoutVars>
      </dgm:prSet>
      <dgm:spPr/>
    </dgm:pt>
    <dgm:pt modelId="{CF8676E2-25CE-4371-849C-A67B8A4EFBB1}" type="pres">
      <dgm:prSet presAssocID="{0C415654-66AB-4D3B-AA34-954C5EF156FC}" presName="spNode" presStyleCnt="0"/>
      <dgm:spPr/>
    </dgm:pt>
    <dgm:pt modelId="{4B9B01FB-4B3F-43A8-9F35-D492EFB1ABC5}" type="pres">
      <dgm:prSet presAssocID="{E0A1A745-B805-43E2-9839-B006BFE16AA1}" presName="sibTrans" presStyleLbl="sibTrans1D1" presStyleIdx="0" presStyleCnt="5"/>
      <dgm:spPr/>
    </dgm:pt>
    <dgm:pt modelId="{B55B2B81-BD30-4CCA-82D3-4A254D8AEB58}" type="pres">
      <dgm:prSet presAssocID="{BB707879-5242-41BB-BFF3-CF6936E1B40B}" presName="node" presStyleLbl="node1" presStyleIdx="1" presStyleCnt="5">
        <dgm:presLayoutVars>
          <dgm:bulletEnabled val="1"/>
        </dgm:presLayoutVars>
      </dgm:prSet>
      <dgm:spPr/>
    </dgm:pt>
    <dgm:pt modelId="{25E0B6C3-7BD0-42C9-8BAB-D54B6D60A8C6}" type="pres">
      <dgm:prSet presAssocID="{BB707879-5242-41BB-BFF3-CF6936E1B40B}" presName="spNode" presStyleCnt="0"/>
      <dgm:spPr/>
    </dgm:pt>
    <dgm:pt modelId="{E786BCA7-E37E-4190-A3D3-9E395B9AFF40}" type="pres">
      <dgm:prSet presAssocID="{58F56E46-25B3-461D-8336-D63547B96758}" presName="sibTrans" presStyleLbl="sibTrans1D1" presStyleIdx="1" presStyleCnt="5"/>
      <dgm:spPr/>
    </dgm:pt>
    <dgm:pt modelId="{2736C8F8-0401-4727-A4AB-961CF21B58DF}" type="pres">
      <dgm:prSet presAssocID="{1288821C-7E1F-48F1-A4D4-D50DE093E9B7}" presName="node" presStyleLbl="node1" presStyleIdx="2" presStyleCnt="5">
        <dgm:presLayoutVars>
          <dgm:bulletEnabled val="1"/>
        </dgm:presLayoutVars>
      </dgm:prSet>
      <dgm:spPr/>
    </dgm:pt>
    <dgm:pt modelId="{268136FF-523F-4CE5-9CE7-78FB2A20DC63}" type="pres">
      <dgm:prSet presAssocID="{1288821C-7E1F-48F1-A4D4-D50DE093E9B7}" presName="spNode" presStyleCnt="0"/>
      <dgm:spPr/>
    </dgm:pt>
    <dgm:pt modelId="{0324944D-02BA-413F-9A47-12DAD0FF496A}" type="pres">
      <dgm:prSet presAssocID="{25FDB698-8E22-4478-8E25-A7A8A8B0DDF1}" presName="sibTrans" presStyleLbl="sibTrans1D1" presStyleIdx="2" presStyleCnt="5"/>
      <dgm:spPr/>
    </dgm:pt>
    <dgm:pt modelId="{3C065909-FB46-42DF-8F6B-6B05AE03C0AA}" type="pres">
      <dgm:prSet presAssocID="{8E0209F1-BCF2-4D3D-91D0-C133711B5A9D}" presName="node" presStyleLbl="node1" presStyleIdx="3" presStyleCnt="5">
        <dgm:presLayoutVars>
          <dgm:bulletEnabled val="1"/>
        </dgm:presLayoutVars>
      </dgm:prSet>
      <dgm:spPr/>
    </dgm:pt>
    <dgm:pt modelId="{F40A40DC-FB4F-4055-93F5-0A961F5CAEBB}" type="pres">
      <dgm:prSet presAssocID="{8E0209F1-BCF2-4D3D-91D0-C133711B5A9D}" presName="spNode" presStyleCnt="0"/>
      <dgm:spPr/>
    </dgm:pt>
    <dgm:pt modelId="{432B184D-57E6-4551-A1D1-8F994F4ECDAE}" type="pres">
      <dgm:prSet presAssocID="{679BCFC3-169B-499D-B4DC-4B9C342DC479}" presName="sibTrans" presStyleLbl="sibTrans1D1" presStyleIdx="3" presStyleCnt="5"/>
      <dgm:spPr/>
    </dgm:pt>
    <dgm:pt modelId="{3623C675-4760-4CFA-A316-74E59EF784CE}" type="pres">
      <dgm:prSet presAssocID="{FAB8B145-4A2C-46F8-A8BE-8C7FC0ABCE60}" presName="node" presStyleLbl="node1" presStyleIdx="4" presStyleCnt="5">
        <dgm:presLayoutVars>
          <dgm:bulletEnabled val="1"/>
        </dgm:presLayoutVars>
      </dgm:prSet>
      <dgm:spPr/>
    </dgm:pt>
    <dgm:pt modelId="{599E2251-BCAA-40A5-A7B7-BBA439C86B96}" type="pres">
      <dgm:prSet presAssocID="{FAB8B145-4A2C-46F8-A8BE-8C7FC0ABCE60}" presName="spNode" presStyleCnt="0"/>
      <dgm:spPr/>
    </dgm:pt>
    <dgm:pt modelId="{70537FCD-F50E-4B03-B7D2-A0A0006399B4}" type="pres">
      <dgm:prSet presAssocID="{82864DA3-0D4D-4605-99CB-ECBCAB23324A}" presName="sibTrans" presStyleLbl="sibTrans1D1" presStyleIdx="4" presStyleCnt="5"/>
      <dgm:spPr/>
    </dgm:pt>
  </dgm:ptLst>
  <dgm:cxnLst>
    <dgm:cxn modelId="{5DA9F107-2A0B-4A55-BD97-0BB0B10B13B6}" type="presOf" srcId="{679BCFC3-169B-499D-B4DC-4B9C342DC479}" destId="{432B184D-57E6-4551-A1D1-8F994F4ECDAE}" srcOrd="0" destOrd="0" presId="urn:microsoft.com/office/officeart/2005/8/layout/cycle6"/>
    <dgm:cxn modelId="{5F496D17-AB69-49F9-8CF1-F3DAE67A3568}" srcId="{DD296605-9365-4CA4-9A1F-4BCD8C2812FB}" destId="{8E0209F1-BCF2-4D3D-91D0-C133711B5A9D}" srcOrd="3" destOrd="0" parTransId="{AFFC4F63-F61B-4C52-BEEE-053C556E81C6}" sibTransId="{679BCFC3-169B-499D-B4DC-4B9C342DC479}"/>
    <dgm:cxn modelId="{0167291D-A92A-4025-90F6-F9C6462B3D2A}" type="presOf" srcId="{FAB8B145-4A2C-46F8-A8BE-8C7FC0ABCE60}" destId="{3623C675-4760-4CFA-A316-74E59EF784CE}" srcOrd="0" destOrd="0" presId="urn:microsoft.com/office/officeart/2005/8/layout/cycle6"/>
    <dgm:cxn modelId="{31AE0638-C664-4126-B7C1-BFB0729D3FCB}" type="presOf" srcId="{82864DA3-0D4D-4605-99CB-ECBCAB23324A}" destId="{70537FCD-F50E-4B03-B7D2-A0A0006399B4}" srcOrd="0" destOrd="0" presId="urn:microsoft.com/office/officeart/2005/8/layout/cycle6"/>
    <dgm:cxn modelId="{9A81119B-F53B-4ABE-82D1-30CF9C5EFB53}" type="presOf" srcId="{58F56E46-25B3-461D-8336-D63547B96758}" destId="{E786BCA7-E37E-4190-A3D3-9E395B9AFF40}" srcOrd="0" destOrd="0" presId="urn:microsoft.com/office/officeart/2005/8/layout/cycle6"/>
    <dgm:cxn modelId="{49BAD0B6-EA18-4E9D-BF30-AF43F15B103A}" type="presOf" srcId="{1288821C-7E1F-48F1-A4D4-D50DE093E9B7}" destId="{2736C8F8-0401-4727-A4AB-961CF21B58DF}" srcOrd="0" destOrd="0" presId="urn:microsoft.com/office/officeart/2005/8/layout/cycle6"/>
    <dgm:cxn modelId="{F83ABDBF-FDA1-4B1F-8139-4E0877EE2745}" srcId="{DD296605-9365-4CA4-9A1F-4BCD8C2812FB}" destId="{1288821C-7E1F-48F1-A4D4-D50DE093E9B7}" srcOrd="2" destOrd="0" parTransId="{F88E1665-3278-4E46-95B9-A11F8C25175E}" sibTransId="{25FDB698-8E22-4478-8E25-A7A8A8B0DDF1}"/>
    <dgm:cxn modelId="{2E1EB3C5-839E-4AC7-9C2E-D6FCB3CD45EF}" type="presOf" srcId="{0C415654-66AB-4D3B-AA34-954C5EF156FC}" destId="{7265ECB8-0151-4E37-953B-63CD11DE3C5A}" srcOrd="0" destOrd="0" presId="urn:microsoft.com/office/officeart/2005/8/layout/cycle6"/>
    <dgm:cxn modelId="{E4B323CD-C3EB-42B5-8715-0832C918ABFB}" type="presOf" srcId="{BB707879-5242-41BB-BFF3-CF6936E1B40B}" destId="{B55B2B81-BD30-4CCA-82D3-4A254D8AEB58}" srcOrd="0" destOrd="0" presId="urn:microsoft.com/office/officeart/2005/8/layout/cycle6"/>
    <dgm:cxn modelId="{79EAAFDB-BF16-4138-A76E-925563C3BFAB}" srcId="{DD296605-9365-4CA4-9A1F-4BCD8C2812FB}" destId="{BB707879-5242-41BB-BFF3-CF6936E1B40B}" srcOrd="1" destOrd="0" parTransId="{CFB00B94-2D3F-4C9D-BE20-FF3645AFCD50}" sibTransId="{58F56E46-25B3-461D-8336-D63547B96758}"/>
    <dgm:cxn modelId="{D60E71EA-6E4E-46EA-A9F7-1F1B11FC5986}" srcId="{DD296605-9365-4CA4-9A1F-4BCD8C2812FB}" destId="{FAB8B145-4A2C-46F8-A8BE-8C7FC0ABCE60}" srcOrd="4" destOrd="0" parTransId="{E254E75C-64B1-4B65-B0D3-39CFA2014B97}" sibTransId="{82864DA3-0D4D-4605-99CB-ECBCAB23324A}"/>
    <dgm:cxn modelId="{E46D93EA-9876-4EE6-B77D-DC553DB68BEA}" type="presOf" srcId="{25FDB698-8E22-4478-8E25-A7A8A8B0DDF1}" destId="{0324944D-02BA-413F-9A47-12DAD0FF496A}" srcOrd="0" destOrd="0" presId="urn:microsoft.com/office/officeart/2005/8/layout/cycle6"/>
    <dgm:cxn modelId="{B77E8DEB-0FD8-4872-B5B1-FDFD7EF3854B}" type="presOf" srcId="{DD296605-9365-4CA4-9A1F-4BCD8C2812FB}" destId="{97667C1B-1BA4-4C01-99CC-88BAB4EFFB9D}" srcOrd="0" destOrd="0" presId="urn:microsoft.com/office/officeart/2005/8/layout/cycle6"/>
    <dgm:cxn modelId="{B5C50DFA-966A-4062-BD6F-79969792A028}" type="presOf" srcId="{E0A1A745-B805-43E2-9839-B006BFE16AA1}" destId="{4B9B01FB-4B3F-43A8-9F35-D492EFB1ABC5}" srcOrd="0" destOrd="0" presId="urn:microsoft.com/office/officeart/2005/8/layout/cycle6"/>
    <dgm:cxn modelId="{921A56FB-BC9D-4F30-8FE8-9431BD58E96A}" srcId="{DD296605-9365-4CA4-9A1F-4BCD8C2812FB}" destId="{0C415654-66AB-4D3B-AA34-954C5EF156FC}" srcOrd="0" destOrd="0" parTransId="{B7CBCDF9-A717-474B-89B1-864D4B8717B4}" sibTransId="{E0A1A745-B805-43E2-9839-B006BFE16AA1}"/>
    <dgm:cxn modelId="{E91F9FFC-E674-4E96-A642-8583E2F30B43}" type="presOf" srcId="{8E0209F1-BCF2-4D3D-91D0-C133711B5A9D}" destId="{3C065909-FB46-42DF-8F6B-6B05AE03C0AA}" srcOrd="0" destOrd="0" presId="urn:microsoft.com/office/officeart/2005/8/layout/cycle6"/>
    <dgm:cxn modelId="{F0A875FB-8D85-49B4-913F-63C407F33708}" type="presParOf" srcId="{97667C1B-1BA4-4C01-99CC-88BAB4EFFB9D}" destId="{7265ECB8-0151-4E37-953B-63CD11DE3C5A}" srcOrd="0" destOrd="0" presId="urn:microsoft.com/office/officeart/2005/8/layout/cycle6"/>
    <dgm:cxn modelId="{28FCBE75-13C2-4D35-821F-7D00956A9049}" type="presParOf" srcId="{97667C1B-1BA4-4C01-99CC-88BAB4EFFB9D}" destId="{CF8676E2-25CE-4371-849C-A67B8A4EFBB1}" srcOrd="1" destOrd="0" presId="urn:microsoft.com/office/officeart/2005/8/layout/cycle6"/>
    <dgm:cxn modelId="{0FF12AE5-85F5-4866-8A7A-29B9021924B3}" type="presParOf" srcId="{97667C1B-1BA4-4C01-99CC-88BAB4EFFB9D}" destId="{4B9B01FB-4B3F-43A8-9F35-D492EFB1ABC5}" srcOrd="2" destOrd="0" presId="urn:microsoft.com/office/officeart/2005/8/layout/cycle6"/>
    <dgm:cxn modelId="{07FFBDF5-E93D-4B8F-90B1-E19606C8A7FF}" type="presParOf" srcId="{97667C1B-1BA4-4C01-99CC-88BAB4EFFB9D}" destId="{B55B2B81-BD30-4CCA-82D3-4A254D8AEB58}" srcOrd="3" destOrd="0" presId="urn:microsoft.com/office/officeart/2005/8/layout/cycle6"/>
    <dgm:cxn modelId="{589D58A6-9C43-40D0-A2CC-35B5D8285D5F}" type="presParOf" srcId="{97667C1B-1BA4-4C01-99CC-88BAB4EFFB9D}" destId="{25E0B6C3-7BD0-42C9-8BAB-D54B6D60A8C6}" srcOrd="4" destOrd="0" presId="urn:microsoft.com/office/officeart/2005/8/layout/cycle6"/>
    <dgm:cxn modelId="{71CE8298-07BB-4A9A-8EFB-F0CCDB0BC6CF}" type="presParOf" srcId="{97667C1B-1BA4-4C01-99CC-88BAB4EFFB9D}" destId="{E786BCA7-E37E-4190-A3D3-9E395B9AFF40}" srcOrd="5" destOrd="0" presId="urn:microsoft.com/office/officeart/2005/8/layout/cycle6"/>
    <dgm:cxn modelId="{11469723-0526-4F06-BB67-5994A6725E9A}" type="presParOf" srcId="{97667C1B-1BA4-4C01-99CC-88BAB4EFFB9D}" destId="{2736C8F8-0401-4727-A4AB-961CF21B58DF}" srcOrd="6" destOrd="0" presId="urn:microsoft.com/office/officeart/2005/8/layout/cycle6"/>
    <dgm:cxn modelId="{74F6F988-B67A-47F4-A4A7-32BBCD761775}" type="presParOf" srcId="{97667C1B-1BA4-4C01-99CC-88BAB4EFFB9D}" destId="{268136FF-523F-4CE5-9CE7-78FB2A20DC63}" srcOrd="7" destOrd="0" presId="urn:microsoft.com/office/officeart/2005/8/layout/cycle6"/>
    <dgm:cxn modelId="{613EAA6C-1311-44B5-93AD-8728797B471C}" type="presParOf" srcId="{97667C1B-1BA4-4C01-99CC-88BAB4EFFB9D}" destId="{0324944D-02BA-413F-9A47-12DAD0FF496A}" srcOrd="8" destOrd="0" presId="urn:microsoft.com/office/officeart/2005/8/layout/cycle6"/>
    <dgm:cxn modelId="{A4EA5CA8-4A85-440E-B5C3-9A954C9DA658}" type="presParOf" srcId="{97667C1B-1BA4-4C01-99CC-88BAB4EFFB9D}" destId="{3C065909-FB46-42DF-8F6B-6B05AE03C0AA}" srcOrd="9" destOrd="0" presId="urn:microsoft.com/office/officeart/2005/8/layout/cycle6"/>
    <dgm:cxn modelId="{8E0CEE85-8D86-4136-AF48-C276050CB11F}" type="presParOf" srcId="{97667C1B-1BA4-4C01-99CC-88BAB4EFFB9D}" destId="{F40A40DC-FB4F-4055-93F5-0A961F5CAEBB}" srcOrd="10" destOrd="0" presId="urn:microsoft.com/office/officeart/2005/8/layout/cycle6"/>
    <dgm:cxn modelId="{4FF983E9-FE57-4353-97B0-74B3A63550A6}" type="presParOf" srcId="{97667C1B-1BA4-4C01-99CC-88BAB4EFFB9D}" destId="{432B184D-57E6-4551-A1D1-8F994F4ECDAE}" srcOrd="11" destOrd="0" presId="urn:microsoft.com/office/officeart/2005/8/layout/cycle6"/>
    <dgm:cxn modelId="{7F0878DF-9CC4-4A6E-843B-03A831672DFC}" type="presParOf" srcId="{97667C1B-1BA4-4C01-99CC-88BAB4EFFB9D}" destId="{3623C675-4760-4CFA-A316-74E59EF784CE}" srcOrd="12" destOrd="0" presId="urn:microsoft.com/office/officeart/2005/8/layout/cycle6"/>
    <dgm:cxn modelId="{0628F001-3AA9-4306-9148-889DB9D46614}" type="presParOf" srcId="{97667C1B-1BA4-4C01-99CC-88BAB4EFFB9D}" destId="{599E2251-BCAA-40A5-A7B7-BBA439C86B96}" srcOrd="13" destOrd="0" presId="urn:microsoft.com/office/officeart/2005/8/layout/cycle6"/>
    <dgm:cxn modelId="{67834031-D7F0-4E76-AFD5-29FF16CDBFB4}" type="presParOf" srcId="{97667C1B-1BA4-4C01-99CC-88BAB4EFFB9D}" destId="{70537FCD-F50E-4B03-B7D2-A0A0006399B4}"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5ECB8-0151-4E37-953B-63CD11DE3C5A}">
      <dsp:nvSpPr>
        <dsp:cNvPr id="0" name=""/>
        <dsp:cNvSpPr/>
      </dsp:nvSpPr>
      <dsp:spPr>
        <a:xfrm>
          <a:off x="4544094" y="1266"/>
          <a:ext cx="1427410" cy="927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 Data Extraction</a:t>
          </a:r>
          <a:endParaRPr lang="en-IN" sz="1800" kern="1200" dirty="0"/>
        </a:p>
      </dsp:txBody>
      <dsp:txXfrm>
        <a:off x="4589386" y="46558"/>
        <a:ext cx="1336826" cy="837232"/>
      </dsp:txXfrm>
    </dsp:sp>
    <dsp:sp modelId="{4B9B01FB-4B3F-43A8-9F35-D492EFB1ABC5}">
      <dsp:nvSpPr>
        <dsp:cNvPr id="0" name=""/>
        <dsp:cNvSpPr/>
      </dsp:nvSpPr>
      <dsp:spPr>
        <a:xfrm>
          <a:off x="3400996" y="465174"/>
          <a:ext cx="3713607" cy="3713607"/>
        </a:xfrm>
        <a:custGeom>
          <a:avLst/>
          <a:gdLst/>
          <a:ahLst/>
          <a:cxnLst/>
          <a:rect l="0" t="0" r="0" b="0"/>
          <a:pathLst>
            <a:path>
              <a:moveTo>
                <a:pt x="2580354" y="146775"/>
              </a:moveTo>
              <a:arcTo wR="1856803" hR="1856803" stAng="17576057" swAng="196555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55B2B81-BD30-4CCA-82D3-4A254D8AEB58}">
      <dsp:nvSpPr>
        <dsp:cNvPr id="0" name=""/>
        <dsp:cNvSpPr/>
      </dsp:nvSpPr>
      <dsp:spPr>
        <a:xfrm>
          <a:off x="6310020" y="1284286"/>
          <a:ext cx="1427410" cy="927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 SQL Queries</a:t>
          </a:r>
          <a:endParaRPr lang="en-IN" sz="1800" kern="1200" dirty="0"/>
        </a:p>
      </dsp:txBody>
      <dsp:txXfrm>
        <a:off x="6355312" y="1329578"/>
        <a:ext cx="1336826" cy="837232"/>
      </dsp:txXfrm>
    </dsp:sp>
    <dsp:sp modelId="{E786BCA7-E37E-4190-A3D3-9E395B9AFF40}">
      <dsp:nvSpPr>
        <dsp:cNvPr id="0" name=""/>
        <dsp:cNvSpPr/>
      </dsp:nvSpPr>
      <dsp:spPr>
        <a:xfrm>
          <a:off x="3400996" y="465174"/>
          <a:ext cx="3713607" cy="3713607"/>
        </a:xfrm>
        <a:custGeom>
          <a:avLst/>
          <a:gdLst/>
          <a:ahLst/>
          <a:cxnLst/>
          <a:rect l="0" t="0" r="0" b="0"/>
          <a:pathLst>
            <a:path>
              <a:moveTo>
                <a:pt x="3711020" y="1758813"/>
              </a:moveTo>
              <a:arcTo wR="1856803" hR="1856803" stAng="21418493" swAng="2199393"/>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736C8F8-0401-4727-A4AB-961CF21B58DF}">
      <dsp:nvSpPr>
        <dsp:cNvPr id="0" name=""/>
        <dsp:cNvSpPr/>
      </dsp:nvSpPr>
      <dsp:spPr>
        <a:xfrm>
          <a:off x="5635496" y="3360256"/>
          <a:ext cx="1427410" cy="927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3. Visualization</a:t>
          </a:r>
          <a:endParaRPr lang="en-IN" sz="1800" kern="1200" dirty="0"/>
        </a:p>
      </dsp:txBody>
      <dsp:txXfrm>
        <a:off x="5680788" y="3405548"/>
        <a:ext cx="1336826" cy="837232"/>
      </dsp:txXfrm>
    </dsp:sp>
    <dsp:sp modelId="{0324944D-02BA-413F-9A47-12DAD0FF496A}">
      <dsp:nvSpPr>
        <dsp:cNvPr id="0" name=""/>
        <dsp:cNvSpPr/>
      </dsp:nvSpPr>
      <dsp:spPr>
        <a:xfrm>
          <a:off x="3400996" y="465174"/>
          <a:ext cx="3713607" cy="3713607"/>
        </a:xfrm>
        <a:custGeom>
          <a:avLst/>
          <a:gdLst/>
          <a:ahLst/>
          <a:cxnLst/>
          <a:rect l="0" t="0" r="0" b="0"/>
          <a:pathLst>
            <a:path>
              <a:moveTo>
                <a:pt x="2227101" y="3676309"/>
              </a:moveTo>
              <a:arcTo wR="1856803" hR="1856803" stAng="4709791" swAng="1380417"/>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C065909-FB46-42DF-8F6B-6B05AE03C0AA}">
      <dsp:nvSpPr>
        <dsp:cNvPr id="0" name=""/>
        <dsp:cNvSpPr/>
      </dsp:nvSpPr>
      <dsp:spPr>
        <a:xfrm>
          <a:off x="3452692" y="3360256"/>
          <a:ext cx="1427410" cy="927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 Streamlit</a:t>
          </a:r>
          <a:endParaRPr lang="en-IN" sz="1800" kern="1200" dirty="0"/>
        </a:p>
      </dsp:txBody>
      <dsp:txXfrm>
        <a:off x="3497984" y="3405548"/>
        <a:ext cx="1336826" cy="837232"/>
      </dsp:txXfrm>
    </dsp:sp>
    <dsp:sp modelId="{432B184D-57E6-4551-A1D1-8F994F4ECDAE}">
      <dsp:nvSpPr>
        <dsp:cNvPr id="0" name=""/>
        <dsp:cNvSpPr/>
      </dsp:nvSpPr>
      <dsp:spPr>
        <a:xfrm>
          <a:off x="3400996" y="465174"/>
          <a:ext cx="3713607" cy="3713607"/>
        </a:xfrm>
        <a:custGeom>
          <a:avLst/>
          <a:gdLst/>
          <a:ahLst/>
          <a:cxnLst/>
          <a:rect l="0" t="0" r="0" b="0"/>
          <a:pathLst>
            <a:path>
              <a:moveTo>
                <a:pt x="310796" y="2885191"/>
              </a:moveTo>
              <a:arcTo wR="1856803" hR="1856803" stAng="8782115" swAng="2199393"/>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623C675-4760-4CFA-A316-74E59EF784CE}">
      <dsp:nvSpPr>
        <dsp:cNvPr id="0" name=""/>
        <dsp:cNvSpPr/>
      </dsp:nvSpPr>
      <dsp:spPr>
        <a:xfrm>
          <a:off x="2778169" y="1284286"/>
          <a:ext cx="1427410" cy="927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 Insights &amp; Presentation</a:t>
          </a:r>
          <a:endParaRPr lang="en-IN" sz="1800" kern="1200" dirty="0"/>
        </a:p>
      </dsp:txBody>
      <dsp:txXfrm>
        <a:off x="2823461" y="1329578"/>
        <a:ext cx="1336826" cy="837232"/>
      </dsp:txXfrm>
    </dsp:sp>
    <dsp:sp modelId="{70537FCD-F50E-4B03-B7D2-A0A0006399B4}">
      <dsp:nvSpPr>
        <dsp:cNvPr id="0" name=""/>
        <dsp:cNvSpPr/>
      </dsp:nvSpPr>
      <dsp:spPr>
        <a:xfrm>
          <a:off x="3400996" y="465174"/>
          <a:ext cx="3713607" cy="3713607"/>
        </a:xfrm>
        <a:custGeom>
          <a:avLst/>
          <a:gdLst/>
          <a:ahLst/>
          <a:cxnLst/>
          <a:rect l="0" t="0" r="0" b="0"/>
          <a:pathLst>
            <a:path>
              <a:moveTo>
                <a:pt x="323018" y="810274"/>
              </a:moveTo>
              <a:arcTo wR="1856803" hR="1856803" stAng="12858385" swAng="196555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E3A6F-840D-4E57-9AF7-D53AB2CA857E}" type="datetimeFigureOut">
              <a:rPr lang="en-IN" smtClean="0"/>
              <a:t>05-11-2025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9E360-F57D-4FEC-8ADF-C46DF6B92A1C}" type="slidenum">
              <a:rPr lang="en-IN" smtClean="0"/>
              <a:t>‹#›</a:t>
            </a:fld>
            <a:endParaRPr lang="en-IN"/>
          </a:p>
        </p:txBody>
      </p:sp>
    </p:spTree>
    <p:extLst>
      <p:ext uri="{BB962C8B-B14F-4D97-AF65-F5344CB8AC3E}">
        <p14:creationId xmlns:p14="http://schemas.microsoft.com/office/powerpoint/2010/main" val="1080191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769E360-F57D-4FEC-8ADF-C46DF6B92A1C}" type="slidenum">
              <a:rPr lang="en-IN" smtClean="0"/>
              <a:t>1</a:t>
            </a:fld>
            <a:endParaRPr lang="en-IN"/>
          </a:p>
        </p:txBody>
      </p:sp>
    </p:spTree>
    <p:extLst>
      <p:ext uri="{BB962C8B-B14F-4D97-AF65-F5344CB8AC3E}">
        <p14:creationId xmlns:p14="http://schemas.microsoft.com/office/powerpoint/2010/main" val="10814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8D7E7-92FD-47F6-830A-20580ED00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17E94D-24C9-4238-A954-28B98C4588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00F43D-51C9-43A7-91A6-497DAEAD73C8}"/>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5" name="Footer Placeholder 4">
            <a:extLst>
              <a:ext uri="{FF2B5EF4-FFF2-40B4-BE49-F238E27FC236}">
                <a16:creationId xmlns:a16="http://schemas.microsoft.com/office/drawing/2014/main" id="{029450BE-D3DF-4FA8-B4C4-2D7E1811CA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B0F63C-08C6-4B76-9BDA-1CA131A481A4}"/>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1255241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146D-117D-4819-9DD0-1EB6028C86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BE32A0-E275-47BB-BF52-B7BF9BD29F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760B65-7F44-4DB3-9CFB-B22EE7B1831D}"/>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5" name="Footer Placeholder 4">
            <a:extLst>
              <a:ext uri="{FF2B5EF4-FFF2-40B4-BE49-F238E27FC236}">
                <a16:creationId xmlns:a16="http://schemas.microsoft.com/office/drawing/2014/main" id="{CEC6C71C-616F-4849-84BF-162693F830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19DAED-A755-41BA-8B4C-76A1AA78BBC7}"/>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2115951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726B-6BD5-4A1E-BB12-F0B9A8F2BC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683C04-3328-41DF-B060-8E21DEB88A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30E063-09E8-431A-9FA8-5FCE29769C4F}"/>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5" name="Footer Placeholder 4">
            <a:extLst>
              <a:ext uri="{FF2B5EF4-FFF2-40B4-BE49-F238E27FC236}">
                <a16:creationId xmlns:a16="http://schemas.microsoft.com/office/drawing/2014/main" id="{09FC7A3F-A0E5-4FFB-90D4-AC9937ED8E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DC2BBA-F735-4767-8D97-D83733D857B4}"/>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1910257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8A0E-6B9E-4E02-9407-F986CE22D5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E56537-7921-4DA5-88FB-89821FD409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D43B04-DA02-4331-9B96-C5E7D6396B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FB4A49-BAF1-49EB-8A3C-67129C8FADD9}"/>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6" name="Footer Placeholder 5">
            <a:extLst>
              <a:ext uri="{FF2B5EF4-FFF2-40B4-BE49-F238E27FC236}">
                <a16:creationId xmlns:a16="http://schemas.microsoft.com/office/drawing/2014/main" id="{E418990D-63A4-48A4-8BB3-D2609639D6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D4D87F-FE40-43F2-A28B-2E8A6B773A59}"/>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2045893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8852E-23C5-486C-B72E-9B9F7E5233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8E6C10-C265-4649-9F5E-82B09048B6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CC9B66-4750-497F-96BA-D7D912EED6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EF7156A-540D-4ADC-BC82-B136CABA20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FEF75-A836-4320-8DC1-09E6E62B58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011515-0BB0-4D7E-9797-C957CD241B29}"/>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8" name="Footer Placeholder 7">
            <a:extLst>
              <a:ext uri="{FF2B5EF4-FFF2-40B4-BE49-F238E27FC236}">
                <a16:creationId xmlns:a16="http://schemas.microsoft.com/office/drawing/2014/main" id="{6878A8D7-13B2-4AD1-8700-FCE0F0A0AA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DAE884-C059-47A9-9372-37D12132B3FB}"/>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766806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FAFAC-3035-4E27-8BA2-2C29982CF7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DB3B0A-ECB1-4F63-A3E6-DB8A5DAB9400}"/>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4" name="Footer Placeholder 3">
            <a:extLst>
              <a:ext uri="{FF2B5EF4-FFF2-40B4-BE49-F238E27FC236}">
                <a16:creationId xmlns:a16="http://schemas.microsoft.com/office/drawing/2014/main" id="{0EB781A7-4338-41F0-B6E2-C033D199B15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B5D4BF-E899-4E08-821F-2D8900C14659}"/>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3081504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02A7BB-95CA-43CF-9271-004BE8BCFD3B}"/>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3" name="Footer Placeholder 2">
            <a:extLst>
              <a:ext uri="{FF2B5EF4-FFF2-40B4-BE49-F238E27FC236}">
                <a16:creationId xmlns:a16="http://schemas.microsoft.com/office/drawing/2014/main" id="{EED4CE7F-3630-4310-A265-5505B30DCD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8C540F-61BC-4C6E-9AEA-36DED227A961}"/>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2981647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A0256-803F-431C-8578-7D7E9F49F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EC56483-5EE3-4743-B3F5-0EED7E7E0F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37D546-BF8D-4B83-99A6-DD50D2323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6FA092-BCBB-4871-A8CE-011AF2EB3AFA}"/>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6" name="Footer Placeholder 5">
            <a:extLst>
              <a:ext uri="{FF2B5EF4-FFF2-40B4-BE49-F238E27FC236}">
                <a16:creationId xmlns:a16="http://schemas.microsoft.com/office/drawing/2014/main" id="{B42C7126-B380-409F-8F46-90B64D9CE3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22928D-8FEB-4E89-AEE1-47CF5A7CB50D}"/>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1473148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C142-119D-4939-A6C7-D99050C855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CA3BD7-64AB-4412-A217-D3930495CE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C7F6D3-D0FE-4E0E-BDAC-093F32A1C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44B42A-DB8C-44D8-8B1B-CE90A00560C9}"/>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6" name="Footer Placeholder 5">
            <a:extLst>
              <a:ext uri="{FF2B5EF4-FFF2-40B4-BE49-F238E27FC236}">
                <a16:creationId xmlns:a16="http://schemas.microsoft.com/office/drawing/2014/main" id="{ADD4C468-ABC6-435D-AACE-47DF719ED2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06438A-67BE-40CB-8383-049437971075}"/>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163083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5D6E6-21BC-4074-B0CD-41C1F3C59D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BBC9B6-73F6-4547-BBC8-7CFA7AC358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D1ACAF-A79A-414E-99C6-600AEE96CCF5}"/>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5" name="Footer Placeholder 4">
            <a:extLst>
              <a:ext uri="{FF2B5EF4-FFF2-40B4-BE49-F238E27FC236}">
                <a16:creationId xmlns:a16="http://schemas.microsoft.com/office/drawing/2014/main" id="{0B1CDAC6-987E-43B6-8A30-19A51B144A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AC3E55-EAC3-4A84-93BB-119EAD3D7699}"/>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2157272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BBA41-55E1-43F3-881B-DFCFE22CB8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1E4E26-72AC-4A0E-BCEE-1762F47E0A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FD25F3-AFAD-49E0-8A3E-4F1B1508CD0E}"/>
              </a:ext>
            </a:extLst>
          </p:cNvPr>
          <p:cNvSpPr>
            <a:spLocks noGrp="1"/>
          </p:cNvSpPr>
          <p:nvPr>
            <p:ph type="dt" sz="half" idx="10"/>
          </p:nvPr>
        </p:nvSpPr>
        <p:spPr/>
        <p:txBody>
          <a:bodyPr/>
          <a:lstStyle/>
          <a:p>
            <a:fld id="{032075BC-6907-40C7-A1F4-C314BE2920B6}" type="datetimeFigureOut">
              <a:rPr lang="en-IN" smtClean="0"/>
              <a:t>05-11-2025</a:t>
            </a:fld>
            <a:endParaRPr lang="en-IN"/>
          </a:p>
        </p:txBody>
      </p:sp>
      <p:sp>
        <p:nvSpPr>
          <p:cNvPr id="5" name="Footer Placeholder 4">
            <a:extLst>
              <a:ext uri="{FF2B5EF4-FFF2-40B4-BE49-F238E27FC236}">
                <a16:creationId xmlns:a16="http://schemas.microsoft.com/office/drawing/2014/main" id="{D42881D6-4799-4B83-872A-BF75C43B30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9B4472-D269-4359-95AF-D2E53CBAFCD2}"/>
              </a:ext>
            </a:extLst>
          </p:cNvPr>
          <p:cNvSpPr>
            <a:spLocks noGrp="1"/>
          </p:cNvSpPr>
          <p:nvPr>
            <p:ph type="sldNum" sz="quarter" idx="12"/>
          </p:nvPr>
        </p:nvSpPr>
        <p:spPr/>
        <p:txBody>
          <a:bodyPr/>
          <a:lstStyle/>
          <a:p>
            <a:fld id="{AAA6DBB3-95E6-41D5-AB81-0D214B9CDCDD}" type="slidenum">
              <a:rPr lang="en-IN" smtClean="0"/>
              <a:t>‹#›</a:t>
            </a:fld>
            <a:endParaRPr lang="en-IN"/>
          </a:p>
        </p:txBody>
      </p:sp>
    </p:spTree>
    <p:extLst>
      <p:ext uri="{BB962C8B-B14F-4D97-AF65-F5344CB8AC3E}">
        <p14:creationId xmlns:p14="http://schemas.microsoft.com/office/powerpoint/2010/main" val="625971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B613CB-5F52-4AC4-B000-A0E67779B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4D1253-CD56-4558-B3DD-6019CE6D98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2FE169-AA8E-42B6-9B3C-9008D34DFD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2075BC-6907-40C7-A1F4-C314BE2920B6}" type="datetimeFigureOut">
              <a:rPr lang="en-IN" smtClean="0"/>
              <a:t>05-11-2025</a:t>
            </a:fld>
            <a:endParaRPr lang="en-IN"/>
          </a:p>
        </p:txBody>
      </p:sp>
      <p:sp>
        <p:nvSpPr>
          <p:cNvPr id="5" name="Footer Placeholder 4">
            <a:extLst>
              <a:ext uri="{FF2B5EF4-FFF2-40B4-BE49-F238E27FC236}">
                <a16:creationId xmlns:a16="http://schemas.microsoft.com/office/drawing/2014/main" id="{BEFEDCD9-8C9C-4E08-A7B5-A09A4B8A1A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48B39A-212A-48B8-A1A0-214194876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A6DBB3-95E6-41D5-AB81-0D214B9CDCDD}" type="slidenum">
              <a:rPr lang="en-IN" smtClean="0"/>
              <a:t>‹#›</a:t>
            </a:fld>
            <a:endParaRPr lang="en-IN"/>
          </a:p>
        </p:txBody>
      </p:sp>
    </p:spTree>
    <p:extLst>
      <p:ext uri="{BB962C8B-B14F-4D97-AF65-F5344CB8AC3E}">
        <p14:creationId xmlns:p14="http://schemas.microsoft.com/office/powerpoint/2010/main" val="2140635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EEA784-E22B-46AD-A43E-6318B72BE282}"/>
              </a:ext>
            </a:extLst>
          </p:cNvPr>
          <p:cNvSpPr>
            <a:spLocks noGrp="1"/>
          </p:cNvSpPr>
          <p:nvPr>
            <p:ph type="title"/>
          </p:nvPr>
        </p:nvSpPr>
        <p:spPr>
          <a:xfrm>
            <a:off x="752598" y="636453"/>
            <a:ext cx="10686804" cy="705118"/>
          </a:xfrm>
        </p:spPr>
        <p:txBody>
          <a:bodyPr>
            <a:normAutofit fontScale="90000"/>
          </a:bodyPr>
          <a:lstStyle/>
          <a:p>
            <a:r>
              <a:rPr lang="en-US" sz="4400" b="1" dirty="0">
                <a:solidFill>
                  <a:schemeClr val="accent5"/>
                </a:solidFill>
                <a:latin typeface="Times New Roman" panose="02020603050405020304" pitchFamily="18" charset="0"/>
                <a:cs typeface="Times New Roman" panose="02020603050405020304" pitchFamily="18" charset="0"/>
              </a:rPr>
              <a:t>            </a:t>
            </a:r>
            <a:r>
              <a:rPr lang="en-US" sz="4400" b="1" dirty="0">
                <a:solidFill>
                  <a:schemeClr val="bg1"/>
                </a:solidFill>
                <a:latin typeface="Times New Roman" panose="02020603050405020304" pitchFamily="18" charset="0"/>
                <a:cs typeface="Times New Roman" panose="02020603050405020304" pitchFamily="18" charset="0"/>
              </a:rPr>
              <a:t>PHONEPE TRANSACTION INSIGHTS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BC7607FD-2CC6-4EAA-B671-EE357AD27AA3}"/>
              </a:ext>
            </a:extLst>
          </p:cNvPr>
          <p:cNvSpPr>
            <a:spLocks noGrp="1"/>
          </p:cNvSpPr>
          <p:nvPr>
            <p:ph type="body" sz="half" idx="2"/>
          </p:nvPr>
        </p:nvSpPr>
        <p:spPr>
          <a:xfrm>
            <a:off x="3505715" y="1967248"/>
            <a:ext cx="3932237" cy="3811588"/>
          </a:xfrm>
        </p:spPr>
        <p:txBody>
          <a:bodyPr/>
          <a:lstStyle/>
          <a:p>
            <a:endParaRPr lang="en-IN" dirty="0"/>
          </a:p>
        </p:txBody>
      </p:sp>
      <p:pic>
        <p:nvPicPr>
          <p:cNvPr id="10" name="Picture 9">
            <a:extLst>
              <a:ext uri="{FF2B5EF4-FFF2-40B4-BE49-F238E27FC236}">
                <a16:creationId xmlns:a16="http://schemas.microsoft.com/office/drawing/2014/main" id="{CD113E0B-56B8-4541-A6E6-DCB4A8F8F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716" y="1443037"/>
            <a:ext cx="9096568" cy="5414963"/>
          </a:xfrm>
          <a:prstGeom prst="rect">
            <a:avLst/>
          </a:prstGeom>
        </p:spPr>
      </p:pic>
    </p:spTree>
    <p:extLst>
      <p:ext uri="{BB962C8B-B14F-4D97-AF65-F5344CB8AC3E}">
        <p14:creationId xmlns:p14="http://schemas.microsoft.com/office/powerpoint/2010/main" val="1556685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BCB7-8383-48E3-9421-8C2D8800B44F}"/>
              </a:ext>
            </a:extLst>
          </p:cNvPr>
          <p:cNvSpPr>
            <a:spLocks noGrp="1"/>
          </p:cNvSpPr>
          <p:nvPr>
            <p:ph type="title"/>
          </p:nvPr>
        </p:nvSpPr>
        <p:spPr/>
        <p:txBody>
          <a:bodyPr>
            <a:normAutofit/>
          </a:bodyPr>
          <a:lstStyle/>
          <a:p>
            <a:r>
              <a:rPr lang="en-US" b="1" dirty="0">
                <a:solidFill>
                  <a:schemeClr val="accent5"/>
                </a:solidFill>
                <a:latin typeface="Times New Roman" panose="02020603050405020304" pitchFamily="18" charset="0"/>
                <a:cs typeface="Times New Roman" panose="02020603050405020304" pitchFamily="18" charset="0"/>
              </a:rPr>
              <a:t>OBJECTIVE</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D336A2-CD7D-4CDC-B8A7-83DD6B6FD073}"/>
              </a:ext>
            </a:extLst>
          </p:cNvPr>
          <p:cNvSpPr>
            <a:spLocks noGrp="1"/>
          </p:cNvSpPr>
          <p:nvPr>
            <p:ph idx="1"/>
          </p:nvPr>
        </p:nvSpPr>
        <p:spPr/>
        <p:txBody>
          <a:bodyPr/>
          <a:lstStyle/>
          <a:p>
            <a:pPr>
              <a:buClr>
                <a:schemeClr val="accent5"/>
              </a:buClr>
              <a:buFont typeface="Wingdings" panose="05000000000000000000" pitchFamily="2" charset="2"/>
              <a:buChar char="Ø"/>
            </a:pPr>
            <a:r>
              <a:rPr lang="en-US" sz="4000" b="0" i="0" u="none" strike="noStrike" dirty="0">
                <a:solidFill>
                  <a:schemeClr val="bg1"/>
                </a:solidFill>
                <a:effectLst/>
                <a:latin typeface="Spectral"/>
              </a:rPr>
              <a:t> The Objective of this project is to analyze Phonepe transaction data to uncover insights into digital payment trends, insurance adoption, and market expansion opportunities across Indian states.</a:t>
            </a:r>
            <a:endParaRPr lang="en-US" sz="4000" b="0" dirty="0">
              <a:solidFill>
                <a:schemeClr val="bg1"/>
              </a:solidFill>
              <a:effectLst/>
            </a:endParaRPr>
          </a:p>
          <a:p>
            <a:endParaRPr lang="en-IN" dirty="0">
              <a:solidFill>
                <a:schemeClr val="bg1"/>
              </a:solidFill>
            </a:endParaRPr>
          </a:p>
        </p:txBody>
      </p:sp>
    </p:spTree>
    <p:extLst>
      <p:ext uri="{BB962C8B-B14F-4D97-AF65-F5344CB8AC3E}">
        <p14:creationId xmlns:p14="http://schemas.microsoft.com/office/powerpoint/2010/main" val="2563273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E346-CE7B-48AC-9B99-BEEAC699224E}"/>
              </a:ext>
            </a:extLst>
          </p:cNvPr>
          <p:cNvSpPr>
            <a:spLocks noGrp="1"/>
          </p:cNvSpPr>
          <p:nvPr>
            <p:ph type="title"/>
          </p:nvPr>
        </p:nvSpPr>
        <p:spPr/>
        <p:txBody>
          <a:bodyPr>
            <a:normAutofit/>
          </a:bodyPr>
          <a:lstStyle/>
          <a:p>
            <a:r>
              <a:rPr lang="en-US" b="1" dirty="0">
                <a:solidFill>
                  <a:schemeClr val="accent5"/>
                </a:solidFill>
                <a:latin typeface="Times New Roman" panose="02020603050405020304" pitchFamily="18" charset="0"/>
                <a:cs typeface="Times New Roman" panose="02020603050405020304" pitchFamily="18" charset="0"/>
              </a:rPr>
              <a:t>TOOLS &amp; TECHNOLOGIES</a:t>
            </a:r>
            <a:endParaRPr lang="en-IN" b="1" dirty="0">
              <a:solidFill>
                <a:schemeClr val="accent5"/>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D4143869-F502-4593-99BB-7AE07B2D6964}"/>
              </a:ext>
            </a:extLst>
          </p:cNvPr>
          <p:cNvGraphicFramePr>
            <a:graphicFrameLocks noGrp="1"/>
          </p:cNvGraphicFramePr>
          <p:nvPr>
            <p:ph idx="1"/>
            <p:extLst>
              <p:ext uri="{D42A27DB-BD31-4B8C-83A1-F6EECF244321}">
                <p14:modId xmlns:p14="http://schemas.microsoft.com/office/powerpoint/2010/main" val="2235751746"/>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880721881"/>
                    </a:ext>
                  </a:extLst>
                </a:gridCol>
                <a:gridCol w="5257800">
                  <a:extLst>
                    <a:ext uri="{9D8B030D-6E8A-4147-A177-3AD203B41FA5}">
                      <a16:colId xmlns:a16="http://schemas.microsoft.com/office/drawing/2014/main" val="3585385896"/>
                    </a:ext>
                  </a:extLst>
                </a:gridCol>
              </a:tblGrid>
              <a:tr h="370840">
                <a:tc>
                  <a:txBody>
                    <a:bodyPr/>
                    <a:lstStyle/>
                    <a:p>
                      <a:r>
                        <a:rPr lang="en-US" dirty="0"/>
                        <a:t>Tools</a:t>
                      </a:r>
                      <a:endParaRPr lang="en-IN" dirty="0"/>
                    </a:p>
                  </a:txBody>
                  <a:tcPr/>
                </a:tc>
                <a:tc>
                  <a:txBody>
                    <a:bodyPr/>
                    <a:lstStyle/>
                    <a:p>
                      <a:r>
                        <a:rPr lang="en-US" dirty="0"/>
                        <a:t>Used Reason</a:t>
                      </a:r>
                      <a:endParaRPr lang="en-IN" dirty="0"/>
                    </a:p>
                  </a:txBody>
                  <a:tcPr/>
                </a:tc>
                <a:extLst>
                  <a:ext uri="{0D108BD9-81ED-4DB2-BD59-A6C34878D82A}">
                    <a16:rowId xmlns:a16="http://schemas.microsoft.com/office/drawing/2014/main" val="3031972221"/>
                  </a:ext>
                </a:extLst>
              </a:tr>
              <a:tr h="370840">
                <a:tc>
                  <a:txBody>
                    <a:bodyPr/>
                    <a:lstStyle/>
                    <a:p>
                      <a:r>
                        <a:rPr lang="en-US" dirty="0"/>
                        <a:t>Python</a:t>
                      </a:r>
                      <a:endParaRPr lang="en-IN" dirty="0"/>
                    </a:p>
                  </a:txBody>
                  <a:tcPr/>
                </a:tc>
                <a:tc>
                  <a:txBody>
                    <a:bodyPr/>
                    <a:lstStyle/>
                    <a:p>
                      <a:r>
                        <a:rPr lang="en-US" dirty="0"/>
                        <a:t>Data Extraction &amp; Data Cleaning</a:t>
                      </a:r>
                      <a:endParaRPr lang="en-IN" dirty="0"/>
                    </a:p>
                  </a:txBody>
                  <a:tcPr/>
                </a:tc>
                <a:extLst>
                  <a:ext uri="{0D108BD9-81ED-4DB2-BD59-A6C34878D82A}">
                    <a16:rowId xmlns:a16="http://schemas.microsoft.com/office/drawing/2014/main" val="1247077335"/>
                  </a:ext>
                </a:extLst>
              </a:tr>
              <a:tr h="370840">
                <a:tc>
                  <a:txBody>
                    <a:bodyPr/>
                    <a:lstStyle/>
                    <a:p>
                      <a:r>
                        <a:rPr lang="en-US" dirty="0"/>
                        <a:t>MySQL</a:t>
                      </a:r>
                      <a:endParaRPr lang="en-IN" dirty="0"/>
                    </a:p>
                  </a:txBody>
                  <a:tcPr/>
                </a:tc>
                <a:tc>
                  <a:txBody>
                    <a:bodyPr/>
                    <a:lstStyle/>
                    <a:p>
                      <a:r>
                        <a:rPr lang="en-US" dirty="0"/>
                        <a:t>Data Analysis</a:t>
                      </a:r>
                      <a:endParaRPr lang="en-IN" dirty="0"/>
                    </a:p>
                  </a:txBody>
                  <a:tcPr/>
                </a:tc>
                <a:extLst>
                  <a:ext uri="{0D108BD9-81ED-4DB2-BD59-A6C34878D82A}">
                    <a16:rowId xmlns:a16="http://schemas.microsoft.com/office/drawing/2014/main" val="4096466164"/>
                  </a:ext>
                </a:extLst>
              </a:tr>
              <a:tr h="370840">
                <a:tc>
                  <a:txBody>
                    <a:bodyPr/>
                    <a:lstStyle/>
                    <a:p>
                      <a:r>
                        <a:rPr lang="en-US" dirty="0"/>
                        <a:t>VS Code</a:t>
                      </a:r>
                      <a:endParaRPr lang="en-IN" dirty="0"/>
                    </a:p>
                  </a:txBody>
                  <a:tcPr/>
                </a:tc>
                <a:tc>
                  <a:txBody>
                    <a:bodyPr/>
                    <a:lstStyle/>
                    <a:p>
                      <a:r>
                        <a:rPr lang="en-US" dirty="0"/>
                        <a:t>Data Visualization</a:t>
                      </a:r>
                      <a:endParaRPr lang="en-IN" dirty="0"/>
                    </a:p>
                  </a:txBody>
                  <a:tcPr/>
                </a:tc>
                <a:extLst>
                  <a:ext uri="{0D108BD9-81ED-4DB2-BD59-A6C34878D82A}">
                    <a16:rowId xmlns:a16="http://schemas.microsoft.com/office/drawing/2014/main" val="484629433"/>
                  </a:ext>
                </a:extLst>
              </a:tr>
              <a:tr h="370840">
                <a:tc>
                  <a:txBody>
                    <a:bodyPr/>
                    <a:lstStyle/>
                    <a:p>
                      <a:r>
                        <a:rPr lang="en-US" dirty="0"/>
                        <a:t>Streamlit</a:t>
                      </a:r>
                      <a:endParaRPr lang="en-IN" dirty="0"/>
                    </a:p>
                  </a:txBody>
                  <a:tcPr/>
                </a:tc>
                <a:tc>
                  <a:txBody>
                    <a:bodyPr/>
                    <a:lstStyle/>
                    <a:p>
                      <a:r>
                        <a:rPr lang="en-US" dirty="0"/>
                        <a:t>Dashboard Creation</a:t>
                      </a:r>
                      <a:endParaRPr lang="en-IN" dirty="0"/>
                    </a:p>
                  </a:txBody>
                  <a:tcPr/>
                </a:tc>
                <a:extLst>
                  <a:ext uri="{0D108BD9-81ED-4DB2-BD59-A6C34878D82A}">
                    <a16:rowId xmlns:a16="http://schemas.microsoft.com/office/drawing/2014/main" val="1468617036"/>
                  </a:ext>
                </a:extLst>
              </a:tr>
            </a:tbl>
          </a:graphicData>
        </a:graphic>
      </p:graphicFrame>
    </p:spTree>
    <p:extLst>
      <p:ext uri="{BB962C8B-B14F-4D97-AF65-F5344CB8AC3E}">
        <p14:creationId xmlns:p14="http://schemas.microsoft.com/office/powerpoint/2010/main" val="1147205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06397-AF8E-48CB-951C-56FB38D30DB0}"/>
              </a:ext>
            </a:extLst>
          </p:cNvPr>
          <p:cNvSpPr>
            <a:spLocks noGrp="1"/>
          </p:cNvSpPr>
          <p:nvPr>
            <p:ph type="title"/>
          </p:nvPr>
        </p:nvSpPr>
        <p:spPr/>
        <p:txBody>
          <a:bodyPr>
            <a:normAutofit/>
          </a:bodyPr>
          <a:lstStyle/>
          <a:p>
            <a:r>
              <a:rPr lang="en-US" b="1" dirty="0">
                <a:solidFill>
                  <a:schemeClr val="accent5"/>
                </a:solidFill>
                <a:latin typeface="Times New Roman" panose="02020603050405020304" pitchFamily="18" charset="0"/>
                <a:cs typeface="Times New Roman" panose="02020603050405020304" pitchFamily="18" charset="0"/>
              </a:rPr>
              <a:t>DATASET OVERVIEW</a:t>
            </a:r>
            <a:endParaRPr lang="en-IN" b="1" dirty="0">
              <a:solidFill>
                <a:schemeClr val="accent5"/>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0A3EB032-2E80-4C61-A2E4-3780AE512F33}"/>
              </a:ext>
            </a:extLst>
          </p:cNvPr>
          <p:cNvGraphicFramePr>
            <a:graphicFrameLocks noGrp="1"/>
          </p:cNvGraphicFramePr>
          <p:nvPr>
            <p:ph idx="1"/>
            <p:extLst>
              <p:ext uri="{D42A27DB-BD31-4B8C-83A1-F6EECF244321}">
                <p14:modId xmlns:p14="http://schemas.microsoft.com/office/powerpoint/2010/main" val="1403374751"/>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939789233"/>
                    </a:ext>
                  </a:extLst>
                </a:gridCol>
                <a:gridCol w="5257800">
                  <a:extLst>
                    <a:ext uri="{9D8B030D-6E8A-4147-A177-3AD203B41FA5}">
                      <a16:colId xmlns:a16="http://schemas.microsoft.com/office/drawing/2014/main" val="2165627639"/>
                    </a:ext>
                  </a:extLst>
                </a:gridCol>
              </a:tblGrid>
              <a:tr h="370840">
                <a:tc>
                  <a:txBody>
                    <a:bodyPr/>
                    <a:lstStyle/>
                    <a:p>
                      <a:r>
                        <a:rPr lang="en-US" dirty="0"/>
                        <a:t>Table Name</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3324061716"/>
                  </a:ext>
                </a:extLst>
              </a:tr>
              <a:tr h="370840">
                <a:tc>
                  <a:txBody>
                    <a:bodyPr/>
                    <a:lstStyle/>
                    <a:p>
                      <a:r>
                        <a:rPr lang="en-US" dirty="0"/>
                        <a:t>Aggregated Transaction</a:t>
                      </a:r>
                      <a:endParaRPr lang="en-IN" dirty="0"/>
                    </a:p>
                  </a:txBody>
                  <a:tcPr/>
                </a:tc>
                <a:tc>
                  <a:txBody>
                    <a:bodyPr/>
                    <a:lstStyle/>
                    <a:p>
                      <a:r>
                        <a:rPr lang="en-US" dirty="0"/>
                        <a:t>Yearly &amp; Quarterly Phonepe transaction data</a:t>
                      </a:r>
                      <a:endParaRPr lang="en-IN" dirty="0"/>
                    </a:p>
                  </a:txBody>
                  <a:tcPr/>
                </a:tc>
                <a:extLst>
                  <a:ext uri="{0D108BD9-81ED-4DB2-BD59-A6C34878D82A}">
                    <a16:rowId xmlns:a16="http://schemas.microsoft.com/office/drawing/2014/main" val="2705023788"/>
                  </a:ext>
                </a:extLst>
              </a:tr>
              <a:tr h="370840">
                <a:tc>
                  <a:txBody>
                    <a:bodyPr/>
                    <a:lstStyle/>
                    <a:p>
                      <a:r>
                        <a:rPr lang="en-US" dirty="0"/>
                        <a:t>Map Transaction</a:t>
                      </a:r>
                      <a:endParaRPr lang="en-IN" dirty="0"/>
                    </a:p>
                  </a:txBody>
                  <a:tcPr/>
                </a:tc>
                <a:tc>
                  <a:txBody>
                    <a:bodyPr/>
                    <a:lstStyle/>
                    <a:p>
                      <a:r>
                        <a:rPr lang="en-US" dirty="0"/>
                        <a:t>State/District level transaction details</a:t>
                      </a:r>
                      <a:endParaRPr lang="en-IN" dirty="0"/>
                    </a:p>
                  </a:txBody>
                  <a:tcPr/>
                </a:tc>
                <a:extLst>
                  <a:ext uri="{0D108BD9-81ED-4DB2-BD59-A6C34878D82A}">
                    <a16:rowId xmlns:a16="http://schemas.microsoft.com/office/drawing/2014/main" val="3147639664"/>
                  </a:ext>
                </a:extLst>
              </a:tr>
              <a:tr h="370840">
                <a:tc>
                  <a:txBody>
                    <a:bodyPr/>
                    <a:lstStyle/>
                    <a:p>
                      <a:r>
                        <a:rPr lang="en-US" dirty="0"/>
                        <a:t>Aggregated Insurance</a:t>
                      </a:r>
                      <a:endParaRPr lang="en-IN" dirty="0"/>
                    </a:p>
                  </a:txBody>
                  <a:tcPr/>
                </a:tc>
                <a:tc>
                  <a:txBody>
                    <a:bodyPr/>
                    <a:lstStyle/>
                    <a:p>
                      <a:r>
                        <a:rPr lang="en-US" dirty="0"/>
                        <a:t>Insurance policy data</a:t>
                      </a:r>
                      <a:endParaRPr lang="en-IN" dirty="0"/>
                    </a:p>
                  </a:txBody>
                  <a:tcPr/>
                </a:tc>
                <a:extLst>
                  <a:ext uri="{0D108BD9-81ED-4DB2-BD59-A6C34878D82A}">
                    <a16:rowId xmlns:a16="http://schemas.microsoft.com/office/drawing/2014/main" val="3110371447"/>
                  </a:ext>
                </a:extLst>
              </a:tr>
              <a:tr h="370840">
                <a:tc>
                  <a:txBody>
                    <a:bodyPr/>
                    <a:lstStyle/>
                    <a:p>
                      <a:r>
                        <a:rPr lang="en-US" dirty="0"/>
                        <a:t>Aggregated User</a:t>
                      </a:r>
                      <a:endParaRPr lang="en-IN" dirty="0"/>
                    </a:p>
                  </a:txBody>
                  <a:tcPr/>
                </a:tc>
                <a:tc>
                  <a:txBody>
                    <a:bodyPr/>
                    <a:lstStyle/>
                    <a:p>
                      <a:r>
                        <a:rPr lang="en-US" dirty="0"/>
                        <a:t>User and device based metrics</a:t>
                      </a:r>
                      <a:endParaRPr lang="en-IN" dirty="0"/>
                    </a:p>
                  </a:txBody>
                  <a:tcPr/>
                </a:tc>
                <a:extLst>
                  <a:ext uri="{0D108BD9-81ED-4DB2-BD59-A6C34878D82A}">
                    <a16:rowId xmlns:a16="http://schemas.microsoft.com/office/drawing/2014/main" val="1898403310"/>
                  </a:ext>
                </a:extLst>
              </a:tr>
            </a:tbl>
          </a:graphicData>
        </a:graphic>
      </p:graphicFrame>
    </p:spTree>
    <p:extLst>
      <p:ext uri="{BB962C8B-B14F-4D97-AF65-F5344CB8AC3E}">
        <p14:creationId xmlns:p14="http://schemas.microsoft.com/office/powerpoint/2010/main" val="795346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3DA26-584D-4A2A-8653-189330FB6419}"/>
              </a:ext>
            </a:extLst>
          </p:cNvPr>
          <p:cNvSpPr>
            <a:spLocks noGrp="1"/>
          </p:cNvSpPr>
          <p:nvPr>
            <p:ph type="title"/>
          </p:nvPr>
        </p:nvSpPr>
        <p:spPr/>
        <p:txBody>
          <a:bodyPr>
            <a:normAutofit/>
          </a:bodyPr>
          <a:lstStyle/>
          <a:p>
            <a:r>
              <a:rPr lang="en-US" b="1" dirty="0">
                <a:solidFill>
                  <a:schemeClr val="accent5"/>
                </a:solidFill>
                <a:latin typeface="Times New Roman" panose="02020603050405020304" pitchFamily="18" charset="0"/>
                <a:cs typeface="Times New Roman" panose="02020603050405020304" pitchFamily="18" charset="0"/>
              </a:rPr>
              <a:t>PROJECT OVERFLOW</a:t>
            </a:r>
            <a:endParaRPr lang="en-IN" b="1" dirty="0">
              <a:solidFill>
                <a:schemeClr val="accent5"/>
              </a:solidFill>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6462C50D-092E-42D2-9D3C-175B49194956}"/>
              </a:ext>
            </a:extLst>
          </p:cNvPr>
          <p:cNvGraphicFramePr>
            <a:graphicFrameLocks noGrp="1"/>
          </p:cNvGraphicFramePr>
          <p:nvPr>
            <p:ph idx="1"/>
            <p:extLst>
              <p:ext uri="{D42A27DB-BD31-4B8C-83A1-F6EECF244321}">
                <p14:modId xmlns:p14="http://schemas.microsoft.com/office/powerpoint/2010/main" val="311228868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1870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759AF-7BBE-4A63-B46E-DEDB37B69DCC}"/>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BUSINESS CASE OVERVIEW</a:t>
            </a:r>
            <a:endParaRPr lang="en-IN" b="1" dirty="0">
              <a:solidFill>
                <a:schemeClr val="accent5"/>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AA741949-303E-4EB4-B1FD-1943E44B011A}"/>
              </a:ext>
            </a:extLst>
          </p:cNvPr>
          <p:cNvGraphicFramePr>
            <a:graphicFrameLocks noGrp="1"/>
          </p:cNvGraphicFramePr>
          <p:nvPr>
            <p:ph idx="1"/>
            <p:extLst>
              <p:ext uri="{D42A27DB-BD31-4B8C-83A1-F6EECF244321}">
                <p14:modId xmlns:p14="http://schemas.microsoft.com/office/powerpoint/2010/main" val="1089449874"/>
              </p:ext>
            </p:extLst>
          </p:nvPr>
        </p:nvGraphicFramePr>
        <p:xfrm>
          <a:off x="838200" y="1825625"/>
          <a:ext cx="10515597" cy="2225040"/>
        </p:xfrm>
        <a:graphic>
          <a:graphicData uri="http://schemas.openxmlformats.org/drawingml/2006/table">
            <a:tbl>
              <a:tblPr firstRow="1" bandRow="1">
                <a:tableStyleId>{5C22544A-7EE6-4342-B048-85BDC9FD1C3A}</a:tableStyleId>
              </a:tblPr>
              <a:tblGrid>
                <a:gridCol w="1093839">
                  <a:extLst>
                    <a:ext uri="{9D8B030D-6E8A-4147-A177-3AD203B41FA5}">
                      <a16:colId xmlns:a16="http://schemas.microsoft.com/office/drawing/2014/main" val="1156509147"/>
                    </a:ext>
                  </a:extLst>
                </a:gridCol>
                <a:gridCol w="5353664">
                  <a:extLst>
                    <a:ext uri="{9D8B030D-6E8A-4147-A177-3AD203B41FA5}">
                      <a16:colId xmlns:a16="http://schemas.microsoft.com/office/drawing/2014/main" val="4061509190"/>
                    </a:ext>
                  </a:extLst>
                </a:gridCol>
                <a:gridCol w="4068094">
                  <a:extLst>
                    <a:ext uri="{9D8B030D-6E8A-4147-A177-3AD203B41FA5}">
                      <a16:colId xmlns:a16="http://schemas.microsoft.com/office/drawing/2014/main" val="364316093"/>
                    </a:ext>
                  </a:extLst>
                </a:gridCol>
              </a:tblGrid>
              <a:tr h="370840">
                <a:tc>
                  <a:txBody>
                    <a:bodyPr/>
                    <a:lstStyle/>
                    <a:p>
                      <a:r>
                        <a:rPr lang="en-US" dirty="0"/>
                        <a:t>Case No</a:t>
                      </a:r>
                      <a:endParaRPr lang="en-IN" dirty="0"/>
                    </a:p>
                  </a:txBody>
                  <a:tcPr/>
                </a:tc>
                <a:tc>
                  <a:txBody>
                    <a:bodyPr/>
                    <a:lstStyle/>
                    <a:p>
                      <a:r>
                        <a:rPr lang="en-US" dirty="0"/>
                        <a:t>Business Case</a:t>
                      </a:r>
                      <a:endParaRPr lang="en-IN" dirty="0"/>
                    </a:p>
                  </a:txBody>
                  <a:tcPr/>
                </a:tc>
                <a:tc>
                  <a:txBody>
                    <a:bodyPr/>
                    <a:lstStyle/>
                    <a:p>
                      <a:r>
                        <a:rPr lang="en-US" dirty="0"/>
                        <a:t>Focus</a:t>
                      </a:r>
                      <a:endParaRPr lang="en-IN" dirty="0"/>
                    </a:p>
                  </a:txBody>
                  <a:tcPr/>
                </a:tc>
                <a:extLst>
                  <a:ext uri="{0D108BD9-81ED-4DB2-BD59-A6C34878D82A}">
                    <a16:rowId xmlns:a16="http://schemas.microsoft.com/office/drawing/2014/main" val="4241986989"/>
                  </a:ext>
                </a:extLst>
              </a:tr>
              <a:tr h="370840">
                <a:tc>
                  <a:txBody>
                    <a:bodyPr/>
                    <a:lstStyle/>
                    <a:p>
                      <a:r>
                        <a:rPr lang="en-US" dirty="0"/>
                        <a:t>1</a:t>
                      </a:r>
                      <a:endParaRPr lang="en-IN" dirty="0"/>
                    </a:p>
                  </a:txBody>
                  <a:tcPr/>
                </a:tc>
                <a:tc>
                  <a:txBody>
                    <a:bodyPr/>
                    <a:lstStyle/>
                    <a:p>
                      <a:r>
                        <a:rPr lang="en-US" dirty="0"/>
                        <a:t>Decoding Transaction Dynamics</a:t>
                      </a:r>
                      <a:endParaRPr lang="en-IN" dirty="0"/>
                    </a:p>
                  </a:txBody>
                  <a:tcPr/>
                </a:tc>
                <a:tc>
                  <a:txBody>
                    <a:bodyPr/>
                    <a:lstStyle/>
                    <a:p>
                      <a:r>
                        <a:rPr lang="en-US" dirty="0"/>
                        <a:t>State &amp; Category trends</a:t>
                      </a:r>
                      <a:endParaRPr lang="en-IN" dirty="0"/>
                    </a:p>
                  </a:txBody>
                  <a:tcPr/>
                </a:tc>
                <a:extLst>
                  <a:ext uri="{0D108BD9-81ED-4DB2-BD59-A6C34878D82A}">
                    <a16:rowId xmlns:a16="http://schemas.microsoft.com/office/drawing/2014/main" val="697467130"/>
                  </a:ext>
                </a:extLst>
              </a:tr>
              <a:tr h="370840">
                <a:tc>
                  <a:txBody>
                    <a:bodyPr/>
                    <a:lstStyle/>
                    <a:p>
                      <a:r>
                        <a:rPr lang="en-US" dirty="0"/>
                        <a:t>2</a:t>
                      </a:r>
                      <a:endParaRPr lang="en-IN" dirty="0"/>
                    </a:p>
                  </a:txBody>
                  <a:tcPr/>
                </a:tc>
                <a:tc>
                  <a:txBody>
                    <a:bodyPr/>
                    <a:lstStyle/>
                    <a:p>
                      <a:r>
                        <a:rPr lang="en-US" dirty="0"/>
                        <a:t>Insurance Penetration Growth</a:t>
                      </a:r>
                      <a:endParaRPr lang="en-IN" dirty="0"/>
                    </a:p>
                  </a:txBody>
                  <a:tcPr/>
                </a:tc>
                <a:tc>
                  <a:txBody>
                    <a:bodyPr/>
                    <a:lstStyle/>
                    <a:p>
                      <a:r>
                        <a:rPr lang="en-US" dirty="0"/>
                        <a:t>Policy adoption by state</a:t>
                      </a:r>
                      <a:endParaRPr lang="en-IN" dirty="0"/>
                    </a:p>
                  </a:txBody>
                  <a:tcPr/>
                </a:tc>
                <a:extLst>
                  <a:ext uri="{0D108BD9-81ED-4DB2-BD59-A6C34878D82A}">
                    <a16:rowId xmlns:a16="http://schemas.microsoft.com/office/drawing/2014/main" val="2496637998"/>
                  </a:ext>
                </a:extLst>
              </a:tr>
              <a:tr h="370840">
                <a:tc>
                  <a:txBody>
                    <a:bodyPr/>
                    <a:lstStyle/>
                    <a:p>
                      <a:r>
                        <a:rPr lang="en-US" dirty="0"/>
                        <a:t>3</a:t>
                      </a:r>
                      <a:endParaRPr lang="en-IN" dirty="0"/>
                    </a:p>
                  </a:txBody>
                  <a:tcPr/>
                </a:tc>
                <a:tc>
                  <a:txBody>
                    <a:bodyPr/>
                    <a:lstStyle/>
                    <a:p>
                      <a:r>
                        <a:rPr lang="en-US" dirty="0"/>
                        <a:t>Market Expansion Analysis</a:t>
                      </a:r>
                      <a:endParaRPr lang="en-IN" dirty="0"/>
                    </a:p>
                  </a:txBody>
                  <a:tcPr/>
                </a:tc>
                <a:tc>
                  <a:txBody>
                    <a:bodyPr/>
                    <a:lstStyle/>
                    <a:p>
                      <a:r>
                        <a:rPr lang="en-US" dirty="0"/>
                        <a:t>Growth &amp; new opportunities</a:t>
                      </a:r>
                      <a:endParaRPr lang="en-IN" dirty="0"/>
                    </a:p>
                  </a:txBody>
                  <a:tcPr/>
                </a:tc>
                <a:extLst>
                  <a:ext uri="{0D108BD9-81ED-4DB2-BD59-A6C34878D82A}">
                    <a16:rowId xmlns:a16="http://schemas.microsoft.com/office/drawing/2014/main" val="2925597858"/>
                  </a:ext>
                </a:extLst>
              </a:tr>
              <a:tr h="370840">
                <a:tc>
                  <a:txBody>
                    <a:bodyPr/>
                    <a:lstStyle/>
                    <a:p>
                      <a:r>
                        <a:rPr lang="en-US" dirty="0"/>
                        <a:t>4</a:t>
                      </a:r>
                      <a:endParaRPr lang="en-IN" dirty="0"/>
                    </a:p>
                  </a:txBody>
                  <a:tcPr/>
                </a:tc>
                <a:tc>
                  <a:txBody>
                    <a:bodyPr/>
                    <a:lstStyle/>
                    <a:p>
                      <a:r>
                        <a:rPr lang="en-US" dirty="0"/>
                        <a:t>Device Dominance &amp; User Engagement</a:t>
                      </a:r>
                      <a:endParaRPr lang="en-IN" dirty="0"/>
                    </a:p>
                  </a:txBody>
                  <a:tcPr/>
                </a:tc>
                <a:tc>
                  <a:txBody>
                    <a:bodyPr/>
                    <a:lstStyle/>
                    <a:p>
                      <a:r>
                        <a:rPr lang="en-US" dirty="0"/>
                        <a:t>Brand &amp; device share</a:t>
                      </a:r>
                      <a:endParaRPr lang="en-IN" dirty="0"/>
                    </a:p>
                  </a:txBody>
                  <a:tcPr/>
                </a:tc>
                <a:extLst>
                  <a:ext uri="{0D108BD9-81ED-4DB2-BD59-A6C34878D82A}">
                    <a16:rowId xmlns:a16="http://schemas.microsoft.com/office/drawing/2014/main" val="666098432"/>
                  </a:ext>
                </a:extLst>
              </a:tr>
              <a:tr h="370840">
                <a:tc>
                  <a:txBody>
                    <a:bodyPr/>
                    <a:lstStyle/>
                    <a:p>
                      <a:r>
                        <a:rPr lang="en-US" dirty="0"/>
                        <a:t>5</a:t>
                      </a:r>
                      <a:endParaRPr lang="en-IN" dirty="0"/>
                    </a:p>
                  </a:txBody>
                  <a:tcPr/>
                </a:tc>
                <a:tc>
                  <a:txBody>
                    <a:bodyPr/>
                    <a:lstStyle/>
                    <a:p>
                      <a:r>
                        <a:rPr lang="en-US" dirty="0"/>
                        <a:t>Insurance Transaction Analysis</a:t>
                      </a:r>
                      <a:endParaRPr lang="en-IN" dirty="0"/>
                    </a:p>
                  </a:txBody>
                  <a:tcPr/>
                </a:tc>
                <a:tc>
                  <a:txBody>
                    <a:bodyPr/>
                    <a:lstStyle/>
                    <a:p>
                      <a:r>
                        <a:rPr lang="en-US" dirty="0"/>
                        <a:t>Yearly transaction insights</a:t>
                      </a:r>
                      <a:endParaRPr lang="en-IN" dirty="0"/>
                    </a:p>
                  </a:txBody>
                  <a:tcPr/>
                </a:tc>
                <a:extLst>
                  <a:ext uri="{0D108BD9-81ED-4DB2-BD59-A6C34878D82A}">
                    <a16:rowId xmlns:a16="http://schemas.microsoft.com/office/drawing/2014/main" val="2374175944"/>
                  </a:ext>
                </a:extLst>
              </a:tr>
            </a:tbl>
          </a:graphicData>
        </a:graphic>
      </p:graphicFrame>
    </p:spTree>
    <p:extLst>
      <p:ext uri="{BB962C8B-B14F-4D97-AF65-F5344CB8AC3E}">
        <p14:creationId xmlns:p14="http://schemas.microsoft.com/office/powerpoint/2010/main" val="2788606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0E3CB-FD8C-4E18-990E-BF40DF20F499}"/>
              </a:ext>
            </a:extLst>
          </p:cNvPr>
          <p:cNvSpPr>
            <a:spLocks noGrp="1"/>
          </p:cNvSpPr>
          <p:nvPr>
            <p:ph type="title"/>
          </p:nvPr>
        </p:nvSpPr>
        <p:spPr/>
        <p:txBody>
          <a:bodyPr>
            <a:noAutofit/>
          </a:bodyPr>
          <a:lstStyle/>
          <a:p>
            <a:r>
              <a:rPr lang="en-US" sz="3600" b="1" dirty="0">
                <a:solidFill>
                  <a:schemeClr val="bg1"/>
                </a:solidFill>
                <a:latin typeface="Times New Roman" panose="02020603050405020304" pitchFamily="18" charset="0"/>
                <a:cs typeface="Times New Roman" panose="02020603050405020304" pitchFamily="18" charset="0"/>
              </a:rPr>
              <a:t>CASE 1 DECODING TRANSACTION DYNAMICS</a:t>
            </a:r>
            <a:br>
              <a:rPr lang="en-US" b="1" dirty="0"/>
            </a:br>
            <a:r>
              <a:rPr lang="en-US" b="1" dirty="0"/>
              <a:t>           </a:t>
            </a:r>
            <a:r>
              <a:rPr lang="en-US" b="1" dirty="0">
                <a:solidFill>
                  <a:srgbClr val="00B0F0"/>
                </a:solidFill>
                <a:latin typeface="Gadugi" panose="020B0502040204020203" pitchFamily="34" charset="0"/>
                <a:ea typeface="Gadugi" panose="020B0502040204020203" pitchFamily="34" charset="0"/>
              </a:rPr>
              <a:t>STATE LEVEL PERFORMANCE</a:t>
            </a:r>
            <a:endParaRPr lang="en-IN" b="1" dirty="0">
              <a:solidFill>
                <a:srgbClr val="00B0F0"/>
              </a:solidFill>
              <a:latin typeface="Gadugi" panose="020B0502040204020203" pitchFamily="34" charset="0"/>
              <a:ea typeface="Gadugi" panose="020B0502040204020203" pitchFamily="34" charset="0"/>
            </a:endParaRPr>
          </a:p>
        </p:txBody>
      </p:sp>
      <p:pic>
        <p:nvPicPr>
          <p:cNvPr id="7" name="Content Placeholder 6">
            <a:extLst>
              <a:ext uri="{FF2B5EF4-FFF2-40B4-BE49-F238E27FC236}">
                <a16:creationId xmlns:a16="http://schemas.microsoft.com/office/drawing/2014/main" id="{F3AB34C7-C3AB-400C-83D9-5BEE7A0908C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74073" y="1825625"/>
            <a:ext cx="5645727" cy="4351338"/>
          </a:xfrm>
        </p:spPr>
      </p:pic>
      <p:sp>
        <p:nvSpPr>
          <p:cNvPr id="5" name="Content Placeholder 4">
            <a:extLst>
              <a:ext uri="{FF2B5EF4-FFF2-40B4-BE49-F238E27FC236}">
                <a16:creationId xmlns:a16="http://schemas.microsoft.com/office/drawing/2014/main" id="{285FA539-1135-427E-B75D-F31DE33591DE}"/>
              </a:ext>
            </a:extLst>
          </p:cNvPr>
          <p:cNvSpPr>
            <a:spLocks noGrp="1"/>
          </p:cNvSpPr>
          <p:nvPr>
            <p:ph sz="half" idx="2"/>
          </p:nvPr>
        </p:nvSpPr>
        <p:spPr/>
        <p:txBody>
          <a:bodyPr/>
          <a:lstStyle/>
          <a:p>
            <a:r>
              <a:rPr lang="en-IN" dirty="0">
                <a:solidFill>
                  <a:schemeClr val="bg1"/>
                </a:solidFill>
              </a:rPr>
              <a:t>Andhra Pradesh recorded the highest total transaction amount (~₹69 trillion), followed by Telangana, Karnataka, Maharashtra, and Bihar. These states collectively dominate PhonePe’s transaction landscape, reflecting robust digital ecosystems and widespread merchant adoption.</a:t>
            </a:r>
          </a:p>
        </p:txBody>
      </p:sp>
    </p:spTree>
    <p:extLst>
      <p:ext uri="{BB962C8B-B14F-4D97-AF65-F5344CB8AC3E}">
        <p14:creationId xmlns:p14="http://schemas.microsoft.com/office/powerpoint/2010/main" val="2900663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40B8-6F7F-4EA1-B490-B622591EDEBA}"/>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QUARTERLY GROWTH TREND</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E250A91D-CFC9-4823-853B-970313E6535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1825625"/>
            <a:ext cx="5562600" cy="4351338"/>
          </a:xfrm>
        </p:spPr>
      </p:pic>
      <p:sp>
        <p:nvSpPr>
          <p:cNvPr id="4" name="Content Placeholder 3">
            <a:extLst>
              <a:ext uri="{FF2B5EF4-FFF2-40B4-BE49-F238E27FC236}">
                <a16:creationId xmlns:a16="http://schemas.microsoft.com/office/drawing/2014/main" id="{CF520649-1BBE-464D-9160-3E5F4D932AC3}"/>
              </a:ext>
            </a:extLst>
          </p:cNvPr>
          <p:cNvSpPr>
            <a:spLocks noGrp="1"/>
          </p:cNvSpPr>
          <p:nvPr>
            <p:ph sz="half" idx="2"/>
          </p:nvPr>
        </p:nvSpPr>
        <p:spPr/>
        <p:txBody>
          <a:bodyPr/>
          <a:lstStyle/>
          <a:p>
            <a:r>
              <a:rPr lang="en-US" dirty="0">
                <a:solidFill>
                  <a:schemeClr val="bg1"/>
                </a:solidFill>
              </a:rPr>
              <a:t>Digital transactions show a steep and consistent rise from 2018 to 2024. Quarterly transactions grew from 0.15 B to 33.9 B , and total transaction value surged from ₹0.19 T to ₹43.6 T. Growth accelerated notably after 2020, reflecting stronger digital adoption and higher-value payments.</a:t>
            </a:r>
            <a:endParaRPr lang="en-IN" dirty="0">
              <a:solidFill>
                <a:schemeClr val="bg1"/>
              </a:solidFill>
            </a:endParaRPr>
          </a:p>
        </p:txBody>
      </p:sp>
    </p:spTree>
    <p:extLst>
      <p:ext uri="{BB962C8B-B14F-4D97-AF65-F5344CB8AC3E}">
        <p14:creationId xmlns:p14="http://schemas.microsoft.com/office/powerpoint/2010/main" val="4242719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E4117-37AD-453B-814F-D36C031D6083}"/>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CATEGORY-WISE PERFORMANCE</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16A086F1-1C8F-4637-9BF3-1AFAD779036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77091" y="1825625"/>
            <a:ext cx="5742709" cy="4351338"/>
          </a:xfrm>
        </p:spPr>
      </p:pic>
      <p:sp>
        <p:nvSpPr>
          <p:cNvPr id="4" name="Content Placeholder 3">
            <a:extLst>
              <a:ext uri="{FF2B5EF4-FFF2-40B4-BE49-F238E27FC236}">
                <a16:creationId xmlns:a16="http://schemas.microsoft.com/office/drawing/2014/main" id="{CF05465C-F122-4989-BAF4-0F66F818391D}"/>
              </a:ext>
            </a:extLst>
          </p:cNvPr>
          <p:cNvSpPr>
            <a:spLocks noGrp="1"/>
          </p:cNvSpPr>
          <p:nvPr>
            <p:ph sz="half" idx="2"/>
          </p:nvPr>
        </p:nvSpPr>
        <p:spPr/>
        <p:txBody>
          <a:bodyPr/>
          <a:lstStyle/>
          <a:p>
            <a:r>
              <a:rPr lang="en-US" dirty="0">
                <a:solidFill>
                  <a:schemeClr val="bg1"/>
                </a:solidFill>
              </a:rPr>
              <a:t>Among all categories, Peer-to-Peer and Merchant Payments dominate, representing the bulk of PhonePe’s transaction value and count. The strong showing of Recharge &amp; Bill Payments indicates user stickiness for regular transactions, while Financial Services mark a gradual expansion toward digital banking and wealth management.</a:t>
            </a:r>
            <a:endParaRPr lang="en-IN" dirty="0">
              <a:solidFill>
                <a:schemeClr val="bg1"/>
              </a:solidFill>
            </a:endParaRPr>
          </a:p>
        </p:txBody>
      </p:sp>
    </p:spTree>
    <p:extLst>
      <p:ext uri="{BB962C8B-B14F-4D97-AF65-F5344CB8AC3E}">
        <p14:creationId xmlns:p14="http://schemas.microsoft.com/office/powerpoint/2010/main" val="317619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6B42D-9822-454D-A942-51D016F0BA36}"/>
              </a:ext>
            </a:extLst>
          </p:cNvPr>
          <p:cNvSpPr>
            <a:spLocks noGrp="1"/>
          </p:cNvSpPr>
          <p:nvPr>
            <p:ph type="title"/>
          </p:nvPr>
        </p:nvSpPr>
        <p:spPr>
          <a:xfrm>
            <a:off x="318655" y="365125"/>
            <a:ext cx="11526981" cy="1325563"/>
          </a:xfrm>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HIGH AND LOW PERFORMING STATES</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D85A3A5B-9190-438A-A534-A71A7B7765D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18655" y="1825625"/>
            <a:ext cx="5701145" cy="4351338"/>
          </a:xfrm>
        </p:spPr>
      </p:pic>
      <p:sp>
        <p:nvSpPr>
          <p:cNvPr id="4" name="Content Placeholder 3">
            <a:extLst>
              <a:ext uri="{FF2B5EF4-FFF2-40B4-BE49-F238E27FC236}">
                <a16:creationId xmlns:a16="http://schemas.microsoft.com/office/drawing/2014/main" id="{C373C06F-CCCA-4748-A89C-7D8D8A95AB1A}"/>
              </a:ext>
            </a:extLst>
          </p:cNvPr>
          <p:cNvSpPr>
            <a:spLocks noGrp="1"/>
          </p:cNvSpPr>
          <p:nvPr>
            <p:ph sz="half" idx="2"/>
          </p:nvPr>
        </p:nvSpPr>
        <p:spPr/>
        <p:txBody>
          <a:bodyPr>
            <a:normAutofit fontScale="85000" lnSpcReduction="10000"/>
          </a:bodyPr>
          <a:lstStyle/>
          <a:p>
            <a:r>
              <a:rPr lang="en-IN" dirty="0">
                <a:solidFill>
                  <a:schemeClr val="bg1"/>
                </a:solidFill>
              </a:rPr>
              <a:t>Andhra Pradesh, Telangana, Karnataka, Maharashtra, and Bihar emerge as PhonePe’s top-performing states, collectively contributing the majority of India’s digital payment value.</a:t>
            </a:r>
          </a:p>
          <a:p>
            <a:r>
              <a:rPr lang="en-IN" dirty="0">
                <a:solidFill>
                  <a:schemeClr val="bg1"/>
                </a:solidFill>
              </a:rPr>
              <a:t>In contrast, smaller territories such as Mizoram and Lakshadweep record minimal activity, reflecting digital infrastructure limitations. Bridging this gap through targeted digital literacy and merchant expansion strategies could unlock significant new transaction volumes for PhonePe.</a:t>
            </a:r>
          </a:p>
        </p:txBody>
      </p:sp>
    </p:spTree>
    <p:extLst>
      <p:ext uri="{BB962C8B-B14F-4D97-AF65-F5344CB8AC3E}">
        <p14:creationId xmlns:p14="http://schemas.microsoft.com/office/powerpoint/2010/main" val="3756902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C13B6-5D54-4527-A7FF-9D8D001D3E40}"/>
              </a:ext>
            </a:extLst>
          </p:cNvPr>
          <p:cNvSpPr>
            <a:spLocks noGrp="1"/>
          </p:cNvSpPr>
          <p:nvPr>
            <p:ph type="title"/>
          </p:nvPr>
        </p:nvSpPr>
        <p:spPr>
          <a:xfrm>
            <a:off x="360219" y="365125"/>
            <a:ext cx="11596254" cy="1325563"/>
          </a:xfrm>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DISTRICT LEVEL PERFORMING ANALYSIS</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84C236A8-509F-4B44-9480-1E3303B9DC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0219" y="1825625"/>
            <a:ext cx="5659581" cy="4351338"/>
          </a:xfrm>
        </p:spPr>
      </p:pic>
      <p:sp>
        <p:nvSpPr>
          <p:cNvPr id="4" name="Content Placeholder 3">
            <a:extLst>
              <a:ext uri="{FF2B5EF4-FFF2-40B4-BE49-F238E27FC236}">
                <a16:creationId xmlns:a16="http://schemas.microsoft.com/office/drawing/2014/main" id="{16FEBF23-D35A-4A8A-9288-2C3398608868}"/>
              </a:ext>
            </a:extLst>
          </p:cNvPr>
          <p:cNvSpPr>
            <a:spLocks noGrp="1"/>
          </p:cNvSpPr>
          <p:nvPr>
            <p:ph sz="half" idx="2"/>
          </p:nvPr>
        </p:nvSpPr>
        <p:spPr/>
        <p:txBody>
          <a:bodyPr/>
          <a:lstStyle/>
          <a:p>
            <a:r>
              <a:rPr lang="en-US" dirty="0">
                <a:solidFill>
                  <a:schemeClr val="bg1"/>
                </a:solidFill>
              </a:rPr>
              <a:t>Visakhapatnam District clearly leads with over ₹4.2 lakh crore in digital transactions, followed by Guntur and Krishna.</a:t>
            </a:r>
          </a:p>
          <a:p>
            <a:r>
              <a:rPr lang="en-US" dirty="0">
                <a:solidFill>
                  <a:schemeClr val="bg1"/>
                </a:solidFill>
              </a:rPr>
              <a:t>Andhra Pradesh dominates the top 10, highlighting its strong digital transaction ecosystem, while the Andaman districts appear much lower, showing limited activity.</a:t>
            </a:r>
            <a:endParaRPr lang="en-IN" dirty="0">
              <a:solidFill>
                <a:schemeClr val="bg1"/>
              </a:solidFill>
            </a:endParaRPr>
          </a:p>
        </p:txBody>
      </p:sp>
    </p:spTree>
    <p:extLst>
      <p:ext uri="{BB962C8B-B14F-4D97-AF65-F5344CB8AC3E}">
        <p14:creationId xmlns:p14="http://schemas.microsoft.com/office/powerpoint/2010/main" val="4202569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BE3A7-77EC-4B60-8777-5360F4FC4457}"/>
              </a:ext>
            </a:extLst>
          </p:cNvPr>
          <p:cNvSpPr>
            <a:spLocks noGrp="1"/>
          </p:cNvSpPr>
          <p:nvPr>
            <p:ph type="title"/>
          </p:nvPr>
        </p:nvSpPr>
        <p:spPr>
          <a:xfrm>
            <a:off x="346363" y="365125"/>
            <a:ext cx="11623963" cy="1325563"/>
          </a:xfrm>
        </p:spPr>
        <p:txBody>
          <a:bodyPr>
            <a:normAutofit fontScale="90000"/>
          </a:bodyPr>
          <a:lstStyle/>
          <a:p>
            <a:r>
              <a:rPr lang="en-US" b="1" dirty="0"/>
              <a:t>   </a:t>
            </a:r>
            <a:r>
              <a:rPr lang="en-US" sz="4000" b="1" dirty="0">
                <a:solidFill>
                  <a:schemeClr val="bg1"/>
                </a:solidFill>
                <a:latin typeface="Times New Roman" panose="02020603050405020304" pitchFamily="18" charset="0"/>
                <a:cs typeface="Times New Roman" panose="02020603050405020304" pitchFamily="18" charset="0"/>
              </a:rPr>
              <a:t>CASE 2 INSURANCE PENETRATION &amp; GROWTH</a:t>
            </a:r>
            <a:br>
              <a:rPr lang="en-US" b="1" dirty="0"/>
            </a:br>
            <a:r>
              <a:rPr lang="en-US" b="1" dirty="0"/>
              <a:t>     </a:t>
            </a:r>
            <a:r>
              <a:rPr lang="en-US" b="1" dirty="0">
                <a:solidFill>
                  <a:srgbClr val="00B0F0"/>
                </a:solidFill>
                <a:latin typeface="Gadugi" panose="020B0502040204020203" pitchFamily="34" charset="0"/>
                <a:ea typeface="Gadugi" panose="020B0502040204020203" pitchFamily="34" charset="0"/>
              </a:rPr>
              <a:t>TOP STATES BY INSURANCE POLICIES</a:t>
            </a:r>
            <a:endParaRPr lang="en-IN" b="1" dirty="0">
              <a:solidFill>
                <a:srgbClr val="00B0F0"/>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E5E53CCC-D22D-4054-A356-E299D3E244A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6363" y="1825625"/>
            <a:ext cx="5673437" cy="4351338"/>
          </a:xfrm>
        </p:spPr>
      </p:pic>
      <p:sp>
        <p:nvSpPr>
          <p:cNvPr id="4" name="Content Placeholder 3">
            <a:extLst>
              <a:ext uri="{FF2B5EF4-FFF2-40B4-BE49-F238E27FC236}">
                <a16:creationId xmlns:a16="http://schemas.microsoft.com/office/drawing/2014/main" id="{77A20584-FC46-4397-9568-EE08FD283289}"/>
              </a:ext>
            </a:extLst>
          </p:cNvPr>
          <p:cNvSpPr>
            <a:spLocks noGrp="1"/>
          </p:cNvSpPr>
          <p:nvPr>
            <p:ph sz="half" idx="2"/>
          </p:nvPr>
        </p:nvSpPr>
        <p:spPr>
          <a:xfrm>
            <a:off x="6158345" y="1811770"/>
            <a:ext cx="5181600" cy="4351338"/>
          </a:xfrm>
        </p:spPr>
        <p:txBody>
          <a:bodyPr>
            <a:normAutofit lnSpcReduction="10000"/>
          </a:bodyPr>
          <a:lstStyle/>
          <a:p>
            <a:r>
              <a:rPr lang="en-US" dirty="0">
                <a:solidFill>
                  <a:schemeClr val="bg1"/>
                </a:solidFill>
              </a:rPr>
              <a:t>The analysis of insurance policy counts across India shows that Karnataka and Maharashtra are leading contributors to digital insurance adoption via PhonePe. Southern states demonstrate significant penetration, while northern states like Uttar Pradesh show strong growth potential, making them key focus areas for future expansion strategies.</a:t>
            </a:r>
            <a:endParaRPr lang="en-IN" dirty="0">
              <a:solidFill>
                <a:schemeClr val="bg1"/>
              </a:solidFill>
            </a:endParaRPr>
          </a:p>
        </p:txBody>
      </p:sp>
    </p:spTree>
    <p:extLst>
      <p:ext uri="{BB962C8B-B14F-4D97-AF65-F5344CB8AC3E}">
        <p14:creationId xmlns:p14="http://schemas.microsoft.com/office/powerpoint/2010/main" val="1058072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5509-20BB-45A2-BC41-0B11E645C3C6}"/>
              </a:ext>
            </a:extLst>
          </p:cNvPr>
          <p:cNvSpPr>
            <a:spLocks noGrp="1"/>
          </p:cNvSpPr>
          <p:nvPr>
            <p:ph type="title"/>
          </p:nvPr>
        </p:nvSpPr>
        <p:spPr>
          <a:xfrm>
            <a:off x="838199" y="365125"/>
            <a:ext cx="10827327" cy="1325563"/>
          </a:xfrm>
        </p:spPr>
        <p:txBody>
          <a:bodyPr>
            <a:normAutofit/>
          </a:bodyPr>
          <a:lstStyle/>
          <a:p>
            <a:r>
              <a:rPr lang="en-US" b="1" dirty="0">
                <a:solidFill>
                  <a:schemeClr val="accent5"/>
                </a:solidFill>
                <a:latin typeface="Gadugi" panose="020B0502040204020203" pitchFamily="34" charset="0"/>
                <a:ea typeface="Gadugi" panose="020B0502040204020203" pitchFamily="34" charset="0"/>
              </a:rPr>
              <a:t>    STATES WITH LOWEST INSURANCE</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72FF423C-8AAF-4AEC-8150-147495DB942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01782" y="1825625"/>
            <a:ext cx="5618018" cy="4351337"/>
          </a:xfrm>
        </p:spPr>
      </p:pic>
      <p:sp>
        <p:nvSpPr>
          <p:cNvPr id="4" name="Content Placeholder 3">
            <a:extLst>
              <a:ext uri="{FF2B5EF4-FFF2-40B4-BE49-F238E27FC236}">
                <a16:creationId xmlns:a16="http://schemas.microsoft.com/office/drawing/2014/main" id="{773CC6BA-DF74-4070-80E6-191334741DE0}"/>
              </a:ext>
            </a:extLst>
          </p:cNvPr>
          <p:cNvSpPr>
            <a:spLocks noGrp="1"/>
          </p:cNvSpPr>
          <p:nvPr>
            <p:ph sz="half" idx="2"/>
          </p:nvPr>
        </p:nvSpPr>
        <p:spPr/>
        <p:txBody>
          <a:bodyPr>
            <a:normAutofit lnSpcReduction="10000"/>
          </a:bodyPr>
          <a:lstStyle/>
          <a:p>
            <a:r>
              <a:rPr lang="en-US" dirty="0">
                <a:solidFill>
                  <a:schemeClr val="bg1"/>
                </a:solidFill>
              </a:rPr>
              <a:t>The states of Lakshadweep, Ladakh, and parts of Northeast India exhibit minimal insurance penetration, indicating limited access to digital financial services. These regions represent high potential zones for targeted inclusion efforts and strategic expansion by fintech and insurance providers to boost national-level insurance coverage.</a:t>
            </a:r>
            <a:endParaRPr lang="en-IN" dirty="0">
              <a:solidFill>
                <a:schemeClr val="bg1"/>
              </a:solidFill>
            </a:endParaRPr>
          </a:p>
        </p:txBody>
      </p:sp>
    </p:spTree>
    <p:extLst>
      <p:ext uri="{BB962C8B-B14F-4D97-AF65-F5344CB8AC3E}">
        <p14:creationId xmlns:p14="http://schemas.microsoft.com/office/powerpoint/2010/main" val="2825395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34F3-67F6-4D96-928F-31D2E4A1FA16}"/>
              </a:ext>
            </a:extLst>
          </p:cNvPr>
          <p:cNvSpPr>
            <a:spLocks noGrp="1"/>
          </p:cNvSpPr>
          <p:nvPr>
            <p:ph type="title"/>
          </p:nvPr>
        </p:nvSpPr>
        <p:spPr>
          <a:xfrm>
            <a:off x="443345" y="365125"/>
            <a:ext cx="11277600" cy="1325563"/>
          </a:xfrm>
        </p:spPr>
        <p:txBody>
          <a:bodyPr>
            <a:normAutofit fontScale="90000"/>
          </a:bodyPr>
          <a:lstStyle/>
          <a:p>
            <a:r>
              <a:rPr lang="en-US" dirty="0"/>
              <a:t>       </a:t>
            </a:r>
            <a:r>
              <a:rPr lang="en-US" b="1" dirty="0">
                <a:solidFill>
                  <a:schemeClr val="accent5"/>
                </a:solidFill>
                <a:latin typeface="Gadugi" panose="020B0502040204020203" pitchFamily="34" charset="0"/>
                <a:ea typeface="Gadugi" panose="020B0502040204020203" pitchFamily="34" charset="0"/>
              </a:rPr>
              <a:t>STATE-WISE YEARLY INSURANCE POLICY</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DISTRIBUTON ANALYSIS</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CD6A2DCC-FC15-4EE2-AD16-2371D50C678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43345" y="1825625"/>
            <a:ext cx="5576455" cy="4351338"/>
          </a:xfrm>
        </p:spPr>
      </p:pic>
      <p:sp>
        <p:nvSpPr>
          <p:cNvPr id="4" name="Content Placeholder 3">
            <a:extLst>
              <a:ext uri="{FF2B5EF4-FFF2-40B4-BE49-F238E27FC236}">
                <a16:creationId xmlns:a16="http://schemas.microsoft.com/office/drawing/2014/main" id="{793D776A-689B-425D-8D2A-5543FB4ABFF7}"/>
              </a:ext>
            </a:extLst>
          </p:cNvPr>
          <p:cNvSpPr>
            <a:spLocks noGrp="1"/>
          </p:cNvSpPr>
          <p:nvPr>
            <p:ph sz="half" idx="2"/>
          </p:nvPr>
        </p:nvSpPr>
        <p:spPr/>
        <p:txBody>
          <a:bodyPr/>
          <a:lstStyle/>
          <a:p>
            <a:r>
              <a:rPr lang="en-US" dirty="0">
                <a:solidFill>
                  <a:schemeClr val="bg1"/>
                </a:solidFill>
              </a:rPr>
              <a:t>The number of insurance policies increased steadily across all leading states between 2020–2024.</a:t>
            </a:r>
          </a:p>
          <a:p>
            <a:r>
              <a:rPr lang="en-US" dirty="0">
                <a:solidFill>
                  <a:schemeClr val="bg1"/>
                </a:solidFill>
              </a:rPr>
              <a:t>Karnataka recorded the highest growth, followed by Maharashtra and Tamil Nadu, reflecting strong insurance market expansion in the southern region.</a:t>
            </a:r>
            <a:endParaRPr lang="en-IN" dirty="0">
              <a:solidFill>
                <a:schemeClr val="bg1"/>
              </a:solidFill>
            </a:endParaRPr>
          </a:p>
        </p:txBody>
      </p:sp>
    </p:spTree>
    <p:extLst>
      <p:ext uri="{BB962C8B-B14F-4D97-AF65-F5344CB8AC3E}">
        <p14:creationId xmlns:p14="http://schemas.microsoft.com/office/powerpoint/2010/main" val="3962930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F857-6B42-41EA-AE0E-00A002F0BEC5}"/>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LOW PENETRATION STATES</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DFA68886-9D62-4223-ADFB-F79D05C5347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28600" y="1825625"/>
            <a:ext cx="5791200" cy="4351338"/>
          </a:xfrm>
        </p:spPr>
      </p:pic>
      <p:sp>
        <p:nvSpPr>
          <p:cNvPr id="4" name="Content Placeholder 3">
            <a:extLst>
              <a:ext uri="{FF2B5EF4-FFF2-40B4-BE49-F238E27FC236}">
                <a16:creationId xmlns:a16="http://schemas.microsoft.com/office/drawing/2014/main" id="{259BDB8A-A437-419C-A46A-AF2406576209}"/>
              </a:ext>
            </a:extLst>
          </p:cNvPr>
          <p:cNvSpPr>
            <a:spLocks noGrp="1"/>
          </p:cNvSpPr>
          <p:nvPr>
            <p:ph sz="half" idx="2"/>
          </p:nvPr>
        </p:nvSpPr>
        <p:spPr/>
        <p:txBody>
          <a:bodyPr>
            <a:normAutofit lnSpcReduction="10000"/>
          </a:bodyPr>
          <a:lstStyle/>
          <a:p>
            <a:r>
              <a:rPr lang="en-US" dirty="0">
                <a:solidFill>
                  <a:schemeClr val="bg1"/>
                </a:solidFill>
              </a:rPr>
              <a:t>States like Lakshadweep, Ladakh, Mizoram, and Manipur have the lowest insurance policy penetration in India, each recording fewer than 5,000 total policies.</a:t>
            </a:r>
          </a:p>
          <a:p>
            <a:r>
              <a:rPr lang="en-US" dirty="0">
                <a:solidFill>
                  <a:schemeClr val="bg1"/>
                </a:solidFill>
              </a:rPr>
              <a:t>This indicates limited insurance awareness and accessibility in northeastern and union territory regions, calling for targeted financial inclusion programs.</a:t>
            </a:r>
            <a:endParaRPr lang="en-IN" dirty="0">
              <a:solidFill>
                <a:schemeClr val="bg1"/>
              </a:solidFill>
            </a:endParaRPr>
          </a:p>
        </p:txBody>
      </p:sp>
    </p:spTree>
    <p:extLst>
      <p:ext uri="{BB962C8B-B14F-4D97-AF65-F5344CB8AC3E}">
        <p14:creationId xmlns:p14="http://schemas.microsoft.com/office/powerpoint/2010/main" val="3625676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1F61-208E-401D-B593-EE61DCEC27A4}"/>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QUARTERLY TREND ANALYSIS</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C65278E0-C0CF-4E8C-9625-10A89ABA102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06400" y="1825625"/>
            <a:ext cx="5613400" cy="4351338"/>
          </a:xfrm>
        </p:spPr>
      </p:pic>
      <p:sp>
        <p:nvSpPr>
          <p:cNvPr id="4" name="Content Placeholder 3">
            <a:extLst>
              <a:ext uri="{FF2B5EF4-FFF2-40B4-BE49-F238E27FC236}">
                <a16:creationId xmlns:a16="http://schemas.microsoft.com/office/drawing/2014/main" id="{314C4767-0974-4305-B7D0-E07A63DABC43}"/>
              </a:ext>
            </a:extLst>
          </p:cNvPr>
          <p:cNvSpPr>
            <a:spLocks noGrp="1"/>
          </p:cNvSpPr>
          <p:nvPr>
            <p:ph sz="half" idx="2"/>
          </p:nvPr>
        </p:nvSpPr>
        <p:spPr/>
        <p:txBody>
          <a:bodyPr>
            <a:normAutofit fontScale="92500"/>
          </a:bodyPr>
          <a:lstStyle/>
          <a:p>
            <a:r>
              <a:rPr lang="en-US" dirty="0">
                <a:solidFill>
                  <a:schemeClr val="bg1"/>
                </a:solidFill>
              </a:rPr>
              <a:t>Insurance policy adoption shows a consistent upward trend from 2020 to 2024.</a:t>
            </a:r>
          </a:p>
          <a:p>
            <a:r>
              <a:rPr lang="en-US" dirty="0">
                <a:solidFill>
                  <a:schemeClr val="bg1"/>
                </a:solidFill>
              </a:rPr>
              <a:t>Quarterly policies grew from 0.18 million in 2020-Q2 to 1.47 million in 2024-Q4, reflecting steady market expansion and increased insurance awareness post-2021.</a:t>
            </a:r>
          </a:p>
          <a:p>
            <a:r>
              <a:rPr lang="en-US" dirty="0">
                <a:solidFill>
                  <a:schemeClr val="bg1"/>
                </a:solidFill>
              </a:rPr>
              <a:t>Slight dips are seen in early quarters of some years, indicating possible seasonal variations.</a:t>
            </a:r>
            <a:endParaRPr lang="en-IN" dirty="0">
              <a:solidFill>
                <a:schemeClr val="bg1"/>
              </a:solidFill>
            </a:endParaRPr>
          </a:p>
        </p:txBody>
      </p:sp>
    </p:spTree>
    <p:extLst>
      <p:ext uri="{BB962C8B-B14F-4D97-AF65-F5344CB8AC3E}">
        <p14:creationId xmlns:p14="http://schemas.microsoft.com/office/powerpoint/2010/main" val="1580917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7EC5-EB19-428C-9FB0-DDCD6674938A}"/>
              </a:ext>
            </a:extLst>
          </p:cNvPr>
          <p:cNvSpPr>
            <a:spLocks noGrp="1"/>
          </p:cNvSpPr>
          <p:nvPr>
            <p:ph type="title"/>
          </p:nvPr>
        </p:nvSpPr>
        <p:spPr>
          <a:xfrm>
            <a:off x="96981" y="365125"/>
            <a:ext cx="11970327" cy="1325563"/>
          </a:xfrm>
        </p:spPr>
        <p:txBody>
          <a:bodyPr>
            <a:normAutofit fontScale="90000"/>
          </a:bodyPr>
          <a:lstStyle/>
          <a:p>
            <a:r>
              <a:rPr lang="en-US" sz="4000" b="1" dirty="0">
                <a:solidFill>
                  <a:schemeClr val="bg1"/>
                </a:solidFill>
                <a:latin typeface="Times New Roman" panose="02020603050405020304" pitchFamily="18" charset="0"/>
                <a:cs typeface="Times New Roman" panose="02020603050405020304" pitchFamily="18" charset="0"/>
              </a:rPr>
              <a:t>    CASE 3 TRANSACTION ANALYSIS FOR MARKET</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                                 EXPANSION</a:t>
            </a:r>
            <a:br>
              <a:rPr lang="en-US" sz="4000" b="1" dirty="0"/>
            </a:br>
            <a:r>
              <a:rPr lang="en-US" sz="4000" b="1" dirty="0"/>
              <a:t>                  </a:t>
            </a:r>
            <a:r>
              <a:rPr lang="en-US" sz="4000" b="1" dirty="0">
                <a:solidFill>
                  <a:schemeClr val="accent5"/>
                </a:solidFill>
                <a:latin typeface="Gadugi" panose="020B0502040204020203" pitchFamily="34" charset="0"/>
                <a:ea typeface="Gadugi" panose="020B0502040204020203" pitchFamily="34" charset="0"/>
              </a:rPr>
              <a:t>TRANSACTION VOLUME BY STATE</a:t>
            </a:r>
            <a:endParaRPr lang="en-IN" sz="4000" b="1" dirty="0">
              <a:solidFill>
                <a:schemeClr val="accent5"/>
              </a:solidFill>
              <a:latin typeface="Gadugi" panose="020B0502040204020203" pitchFamily="34" charset="0"/>
              <a:ea typeface="Gadugi" panose="020B0502040204020203" pitchFamily="34" charset="0"/>
            </a:endParaRPr>
          </a:p>
        </p:txBody>
      </p:sp>
      <p:sp>
        <p:nvSpPr>
          <p:cNvPr id="4" name="Content Placeholder 3">
            <a:extLst>
              <a:ext uri="{FF2B5EF4-FFF2-40B4-BE49-F238E27FC236}">
                <a16:creationId xmlns:a16="http://schemas.microsoft.com/office/drawing/2014/main" id="{65C12978-080F-452C-A9DF-CD67920FDDF6}"/>
              </a:ext>
            </a:extLst>
          </p:cNvPr>
          <p:cNvSpPr>
            <a:spLocks noGrp="1"/>
          </p:cNvSpPr>
          <p:nvPr>
            <p:ph sz="half" idx="2"/>
          </p:nvPr>
        </p:nvSpPr>
        <p:spPr/>
        <p:txBody>
          <a:bodyPr>
            <a:normAutofit/>
          </a:bodyPr>
          <a:lstStyle/>
          <a:p>
            <a:r>
              <a:rPr lang="en-US" dirty="0">
                <a:solidFill>
                  <a:schemeClr val="bg1"/>
                </a:solidFill>
              </a:rPr>
              <a:t>Maharashtra records the highest total transactions, followed closely by Karnataka and Telangana, showing strong fintech adoption in southern and western India.</a:t>
            </a:r>
            <a:br>
              <a:rPr lang="en-US" dirty="0">
                <a:solidFill>
                  <a:schemeClr val="bg1"/>
                </a:solidFill>
              </a:rPr>
            </a:br>
            <a:r>
              <a:rPr lang="en-US" dirty="0">
                <a:solidFill>
                  <a:schemeClr val="bg1"/>
                </a:solidFill>
              </a:rPr>
              <a:t>Andhra Pradesh and Uttar Pradesh complete the top five, reflecting growing digital payment penetration across high-population states.</a:t>
            </a:r>
          </a:p>
          <a:p>
            <a:endParaRPr lang="en-IN" dirty="0">
              <a:solidFill>
                <a:schemeClr val="bg1"/>
              </a:solidFill>
            </a:endParaRPr>
          </a:p>
        </p:txBody>
      </p:sp>
      <p:pic>
        <p:nvPicPr>
          <p:cNvPr id="12" name="Content Placeholder 11">
            <a:extLst>
              <a:ext uri="{FF2B5EF4-FFF2-40B4-BE49-F238E27FC236}">
                <a16:creationId xmlns:a16="http://schemas.microsoft.com/office/drawing/2014/main" id="{98424FC0-1858-4CB9-ADC8-0727F1495A8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54000" y="1825624"/>
            <a:ext cx="5765800" cy="4219575"/>
          </a:xfrm>
        </p:spPr>
      </p:pic>
    </p:spTree>
    <p:extLst>
      <p:ext uri="{BB962C8B-B14F-4D97-AF65-F5344CB8AC3E}">
        <p14:creationId xmlns:p14="http://schemas.microsoft.com/office/powerpoint/2010/main" val="1235287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5AAF5-3B21-4785-9A8A-9F9EE4F61CAB}"/>
              </a:ext>
            </a:extLst>
          </p:cNvPr>
          <p:cNvSpPr>
            <a:spLocks noGrp="1"/>
          </p:cNvSpPr>
          <p:nvPr>
            <p:ph type="title"/>
          </p:nvPr>
        </p:nvSpPr>
        <p:spPr>
          <a:xfrm>
            <a:off x="330200" y="365125"/>
            <a:ext cx="11480800" cy="1325563"/>
          </a:xfrm>
        </p:spPr>
        <p:txBody>
          <a:bodyPr/>
          <a:lstStyle/>
          <a:p>
            <a:r>
              <a:rPr lang="en-US" sz="4400" b="1" dirty="0">
                <a:solidFill>
                  <a:schemeClr val="accent5"/>
                </a:solidFill>
                <a:latin typeface="Gadugi" panose="020B0502040204020203" pitchFamily="34" charset="0"/>
                <a:ea typeface="Gadugi" panose="020B0502040204020203" pitchFamily="34" charset="0"/>
              </a:rPr>
              <a:t> TOP DISTRICTS BY TRANSACTION VALUE</a:t>
            </a:r>
            <a:endParaRPr lang="en-IN" dirty="0"/>
          </a:p>
        </p:txBody>
      </p:sp>
      <p:sp>
        <p:nvSpPr>
          <p:cNvPr id="4" name="Content Placeholder 3">
            <a:extLst>
              <a:ext uri="{FF2B5EF4-FFF2-40B4-BE49-F238E27FC236}">
                <a16:creationId xmlns:a16="http://schemas.microsoft.com/office/drawing/2014/main" id="{E481B7B3-FE73-44C8-8DF4-BF4737F3B4FB}"/>
              </a:ext>
            </a:extLst>
          </p:cNvPr>
          <p:cNvSpPr>
            <a:spLocks noGrp="1"/>
          </p:cNvSpPr>
          <p:nvPr>
            <p:ph sz="half" idx="2"/>
          </p:nvPr>
        </p:nvSpPr>
        <p:spPr/>
        <p:txBody>
          <a:bodyPr/>
          <a:lstStyle/>
          <a:p>
            <a:r>
              <a:rPr lang="en-US" dirty="0">
                <a:solidFill>
                  <a:schemeClr val="bg1"/>
                </a:solidFill>
              </a:rPr>
              <a:t>Bengaluru Urban leads India in PhonePe transactions, followed by Pune and Hyderabad.</a:t>
            </a:r>
            <a:br>
              <a:rPr lang="en-US" dirty="0">
                <a:solidFill>
                  <a:schemeClr val="bg1"/>
                </a:solidFill>
              </a:rPr>
            </a:br>
            <a:r>
              <a:rPr lang="en-US" dirty="0">
                <a:solidFill>
                  <a:schemeClr val="bg1"/>
                </a:solidFill>
              </a:rPr>
              <a:t>Southern and metro districts dominate overall, showing strong digital payment adoption, while Tier-2 cities like Jaipur are rapidly catching up.</a:t>
            </a:r>
            <a:endParaRPr lang="en-IN" dirty="0">
              <a:solidFill>
                <a:schemeClr val="bg1"/>
              </a:solidFill>
            </a:endParaRPr>
          </a:p>
          <a:p>
            <a:endParaRPr lang="en-IN" dirty="0"/>
          </a:p>
        </p:txBody>
      </p:sp>
      <p:pic>
        <p:nvPicPr>
          <p:cNvPr id="5" name="Content Placeholder 5">
            <a:extLst>
              <a:ext uri="{FF2B5EF4-FFF2-40B4-BE49-F238E27FC236}">
                <a16:creationId xmlns:a16="http://schemas.microsoft.com/office/drawing/2014/main" id="{38367983-2378-435E-8E1D-F00B7212730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30200" y="1825625"/>
            <a:ext cx="5689600" cy="4351338"/>
          </a:xfrm>
        </p:spPr>
      </p:pic>
    </p:spTree>
    <p:extLst>
      <p:ext uri="{BB962C8B-B14F-4D97-AF65-F5344CB8AC3E}">
        <p14:creationId xmlns:p14="http://schemas.microsoft.com/office/powerpoint/2010/main" val="484292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B734-647F-47C9-B876-2EE37C13E9D7}"/>
              </a:ext>
            </a:extLst>
          </p:cNvPr>
          <p:cNvSpPr>
            <a:spLocks noGrp="1"/>
          </p:cNvSpPr>
          <p:nvPr>
            <p:ph type="title"/>
          </p:nvPr>
        </p:nvSpPr>
        <p:spPr>
          <a:xfrm>
            <a:off x="484909" y="365125"/>
            <a:ext cx="11194473" cy="1325563"/>
          </a:xfrm>
        </p:spPr>
        <p:txBody>
          <a:bodyPr/>
          <a:lstStyle/>
          <a:p>
            <a:r>
              <a:rPr lang="en-US" b="1" dirty="0">
                <a:solidFill>
                  <a:schemeClr val="accent5"/>
                </a:solidFill>
                <a:latin typeface="Gadugi" panose="020B0502040204020203" pitchFamily="34" charset="0"/>
                <a:ea typeface="Gadugi" panose="020B0502040204020203" pitchFamily="34" charset="0"/>
              </a:rPr>
              <a:t>TOP PINCODES BY TRANSACTION VALUE</a:t>
            </a:r>
            <a:endParaRPr lang="en-IN" b="1" dirty="0">
              <a:solidFill>
                <a:schemeClr val="accent5"/>
              </a:solidFill>
              <a:latin typeface="Gadugi" panose="020B0502040204020203" pitchFamily="34" charset="0"/>
              <a:ea typeface="Gadugi" panose="020B0502040204020203" pitchFamily="34" charset="0"/>
            </a:endParaRPr>
          </a:p>
        </p:txBody>
      </p:sp>
      <p:sp>
        <p:nvSpPr>
          <p:cNvPr id="4" name="Content Placeholder 3">
            <a:extLst>
              <a:ext uri="{FF2B5EF4-FFF2-40B4-BE49-F238E27FC236}">
                <a16:creationId xmlns:a16="http://schemas.microsoft.com/office/drawing/2014/main" id="{E32F6726-6B47-4EF6-A0B7-EC201E4E2FFE}"/>
              </a:ext>
            </a:extLst>
          </p:cNvPr>
          <p:cNvSpPr>
            <a:spLocks noGrp="1"/>
          </p:cNvSpPr>
          <p:nvPr>
            <p:ph sz="half" idx="2"/>
          </p:nvPr>
        </p:nvSpPr>
        <p:spPr/>
        <p:txBody>
          <a:bodyPr/>
          <a:lstStyle/>
          <a:p>
            <a:r>
              <a:rPr lang="en-US" dirty="0">
                <a:solidFill>
                  <a:schemeClr val="bg1"/>
                </a:solidFill>
              </a:rPr>
              <a:t>The top 10 </a:t>
            </a:r>
            <a:r>
              <a:rPr lang="en-US" dirty="0" err="1">
                <a:solidFill>
                  <a:schemeClr val="bg1"/>
                </a:solidFill>
              </a:rPr>
              <a:t>pincodes</a:t>
            </a:r>
            <a:r>
              <a:rPr lang="en-US" dirty="0">
                <a:solidFill>
                  <a:schemeClr val="bg1"/>
                </a:solidFill>
              </a:rPr>
              <a:t> show exceptional transaction volumes, with Telangana (500001, 500034) and Karnataka (560001) dominating digital </a:t>
            </a:r>
            <a:r>
              <a:rPr lang="en-US" dirty="0" err="1">
                <a:solidFill>
                  <a:schemeClr val="bg1"/>
                </a:solidFill>
              </a:rPr>
              <a:t>payments.Urban</a:t>
            </a:r>
            <a:r>
              <a:rPr lang="en-US" dirty="0">
                <a:solidFill>
                  <a:schemeClr val="bg1"/>
                </a:solidFill>
              </a:rPr>
              <a:t> and metropolitan </a:t>
            </a:r>
            <a:r>
              <a:rPr lang="en-US" dirty="0" err="1">
                <a:solidFill>
                  <a:schemeClr val="bg1"/>
                </a:solidFill>
              </a:rPr>
              <a:t>pincodes</a:t>
            </a:r>
            <a:r>
              <a:rPr lang="en-US" dirty="0">
                <a:solidFill>
                  <a:schemeClr val="bg1"/>
                </a:solidFill>
              </a:rPr>
              <a:t> clearly outperform, reflecting higher adoption and spending power in major cities.</a:t>
            </a:r>
            <a:endParaRPr lang="en-IN" dirty="0">
              <a:solidFill>
                <a:schemeClr val="bg1"/>
              </a:solidFill>
            </a:endParaRPr>
          </a:p>
        </p:txBody>
      </p:sp>
      <p:pic>
        <p:nvPicPr>
          <p:cNvPr id="8" name="Content Placeholder 7">
            <a:extLst>
              <a:ext uri="{FF2B5EF4-FFF2-40B4-BE49-F238E27FC236}">
                <a16:creationId xmlns:a16="http://schemas.microsoft.com/office/drawing/2014/main" id="{41F70E1B-F811-4E3B-8C76-8B6F334BBCA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84909" y="1825625"/>
            <a:ext cx="5534891" cy="4206875"/>
          </a:xfrm>
        </p:spPr>
      </p:pic>
    </p:spTree>
    <p:extLst>
      <p:ext uri="{BB962C8B-B14F-4D97-AF65-F5344CB8AC3E}">
        <p14:creationId xmlns:p14="http://schemas.microsoft.com/office/powerpoint/2010/main" val="2670447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56DB4-40BD-4A64-9CCB-0A5C273157ED}"/>
              </a:ext>
            </a:extLst>
          </p:cNvPr>
          <p:cNvSpPr>
            <a:spLocks noGrp="1"/>
          </p:cNvSpPr>
          <p:nvPr>
            <p:ph type="title"/>
          </p:nvPr>
        </p:nvSpPr>
        <p:spPr>
          <a:xfrm>
            <a:off x="355600" y="365125"/>
            <a:ext cx="11493500" cy="1325563"/>
          </a:xfrm>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YEAR ON YEAR GROWTH IN</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TRANSACTION BY STATES</a:t>
            </a:r>
            <a:endParaRPr lang="en-IN" b="1" dirty="0">
              <a:solidFill>
                <a:schemeClr val="accent5"/>
              </a:solidFill>
              <a:latin typeface="Gadugi" panose="020B0502040204020203" pitchFamily="34" charset="0"/>
              <a:ea typeface="Gadugi" panose="020B0502040204020203" pitchFamily="34" charset="0"/>
            </a:endParaRPr>
          </a:p>
        </p:txBody>
      </p:sp>
      <p:pic>
        <p:nvPicPr>
          <p:cNvPr id="8" name="Content Placeholder 7">
            <a:extLst>
              <a:ext uri="{FF2B5EF4-FFF2-40B4-BE49-F238E27FC236}">
                <a16:creationId xmlns:a16="http://schemas.microsoft.com/office/drawing/2014/main" id="{3E146BAB-6FE5-4BB9-B736-6E05718D102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55600" y="1825625"/>
            <a:ext cx="5664200" cy="4351338"/>
          </a:xfrm>
        </p:spPr>
      </p:pic>
      <p:sp>
        <p:nvSpPr>
          <p:cNvPr id="4" name="Content Placeholder 3">
            <a:extLst>
              <a:ext uri="{FF2B5EF4-FFF2-40B4-BE49-F238E27FC236}">
                <a16:creationId xmlns:a16="http://schemas.microsoft.com/office/drawing/2014/main" id="{6A00FCEB-B871-4F9D-AEDD-8BF6B954EA82}"/>
              </a:ext>
            </a:extLst>
          </p:cNvPr>
          <p:cNvSpPr>
            <a:spLocks noGrp="1"/>
          </p:cNvSpPr>
          <p:nvPr>
            <p:ph sz="half" idx="2"/>
          </p:nvPr>
        </p:nvSpPr>
        <p:spPr/>
        <p:txBody>
          <a:bodyPr>
            <a:normAutofit fontScale="92500" lnSpcReduction="10000"/>
          </a:bodyPr>
          <a:lstStyle/>
          <a:p>
            <a:r>
              <a:rPr lang="en-US" dirty="0">
                <a:solidFill>
                  <a:schemeClr val="bg1"/>
                </a:solidFill>
              </a:rPr>
              <a:t>The Year-on-Year growth trend reveals rapid expansion in digital transactions across states from 2018–2021, followed by stabilization post-2022.</a:t>
            </a:r>
          </a:p>
          <a:p>
            <a:r>
              <a:rPr lang="en-US" dirty="0">
                <a:solidFill>
                  <a:schemeClr val="bg1"/>
                </a:solidFill>
              </a:rPr>
              <a:t>States like Telangana, Karnataka, and Maharashtra exhibited early explosive growth exceeding 100–500% YoY, while growth rates have gradually normalized, indicating market maturity and wider adoption of digital payment systems.</a:t>
            </a:r>
            <a:endParaRPr lang="en-IN" dirty="0">
              <a:solidFill>
                <a:schemeClr val="bg1"/>
              </a:solidFill>
            </a:endParaRPr>
          </a:p>
        </p:txBody>
      </p:sp>
    </p:spTree>
    <p:extLst>
      <p:ext uri="{BB962C8B-B14F-4D97-AF65-F5344CB8AC3E}">
        <p14:creationId xmlns:p14="http://schemas.microsoft.com/office/powerpoint/2010/main" val="3278765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F398B-4B34-4E68-BF28-74A0B77DE8E1}"/>
              </a:ext>
            </a:extLst>
          </p:cNvPr>
          <p:cNvSpPr>
            <a:spLocks noGrp="1"/>
          </p:cNvSpPr>
          <p:nvPr>
            <p:ph type="title"/>
          </p:nvPr>
        </p:nvSpPr>
        <p:spPr>
          <a:xfrm>
            <a:off x="217714" y="365125"/>
            <a:ext cx="11640457" cy="1325563"/>
          </a:xfrm>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TRANSACTION VALUE BY STATE AND</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CATEGORY</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461E80B1-A646-40CD-AD7C-A6D158D8C59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1886" y="1825625"/>
            <a:ext cx="5627914" cy="4351338"/>
          </a:xfrm>
        </p:spPr>
      </p:pic>
      <p:sp>
        <p:nvSpPr>
          <p:cNvPr id="4" name="Content Placeholder 3">
            <a:extLst>
              <a:ext uri="{FF2B5EF4-FFF2-40B4-BE49-F238E27FC236}">
                <a16:creationId xmlns:a16="http://schemas.microsoft.com/office/drawing/2014/main" id="{FD4BAD7C-1E23-4502-AC49-39355B599A86}"/>
              </a:ext>
            </a:extLst>
          </p:cNvPr>
          <p:cNvSpPr>
            <a:spLocks noGrp="1"/>
          </p:cNvSpPr>
          <p:nvPr>
            <p:ph sz="half" idx="2"/>
          </p:nvPr>
        </p:nvSpPr>
        <p:spPr/>
        <p:txBody>
          <a:bodyPr>
            <a:normAutofit fontScale="92500" lnSpcReduction="20000"/>
          </a:bodyPr>
          <a:lstStyle/>
          <a:p>
            <a:r>
              <a:rPr lang="en-IN" dirty="0">
                <a:solidFill>
                  <a:schemeClr val="bg1"/>
                </a:solidFill>
              </a:rPr>
              <a:t>Peer-to-Peer (P2P) payments dominate the digital transaction landscape, especially in Andhra Pradesh, Telangana, and Karnataka, each exceeding ₹3–5 lakh crores.</a:t>
            </a:r>
          </a:p>
          <a:p>
            <a:r>
              <a:rPr lang="en-IN" dirty="0">
                <a:solidFill>
                  <a:schemeClr val="bg1"/>
                </a:solidFill>
              </a:rPr>
              <a:t>Merchant payments follow as the second-largest contributor, indicating a steady rise in commercial digital adoption.</a:t>
            </a:r>
          </a:p>
          <a:p>
            <a:r>
              <a:rPr lang="en-IN" dirty="0">
                <a:solidFill>
                  <a:schemeClr val="bg1"/>
                </a:solidFill>
              </a:rPr>
              <a:t>States like Maharashtra and Tamil Nadu show a balanced mix across all categories, reflecting mature digital ecosystems.</a:t>
            </a:r>
          </a:p>
        </p:txBody>
      </p:sp>
    </p:spTree>
    <p:extLst>
      <p:ext uri="{BB962C8B-B14F-4D97-AF65-F5344CB8AC3E}">
        <p14:creationId xmlns:p14="http://schemas.microsoft.com/office/powerpoint/2010/main" val="3298119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E9A41-462B-4E94-B62D-C4C6390318C9}"/>
              </a:ext>
            </a:extLst>
          </p:cNvPr>
          <p:cNvSpPr>
            <a:spLocks noGrp="1"/>
          </p:cNvSpPr>
          <p:nvPr>
            <p:ph type="title"/>
          </p:nvPr>
        </p:nvSpPr>
        <p:spPr>
          <a:xfrm>
            <a:off x="249383" y="365125"/>
            <a:ext cx="11623962" cy="1325563"/>
          </a:xfrm>
        </p:spPr>
        <p:txBody>
          <a:bodyPr>
            <a:normAutofit fontScale="90000"/>
          </a:bodyPr>
          <a:lstStyle/>
          <a:p>
            <a:r>
              <a:rPr lang="en-US" sz="4000" b="1" dirty="0">
                <a:solidFill>
                  <a:schemeClr val="bg1"/>
                </a:solidFill>
                <a:latin typeface="Times New Roman" panose="02020603050405020304" pitchFamily="18" charset="0"/>
                <a:cs typeface="Times New Roman" panose="02020603050405020304" pitchFamily="18" charset="0"/>
              </a:rPr>
              <a:t>            CASE 4 DEVICE DOMINANCE &amp; USER </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                                   ENGAGEMENT</a:t>
            </a:r>
            <a:br>
              <a:rPr lang="en-US" b="1" dirty="0"/>
            </a:br>
            <a:r>
              <a:rPr lang="en-US" b="1" dirty="0"/>
              <a:t>                </a:t>
            </a:r>
            <a:r>
              <a:rPr lang="en-US" b="1" dirty="0">
                <a:solidFill>
                  <a:schemeClr val="accent5"/>
                </a:solidFill>
                <a:latin typeface="Gadugi" panose="020B0502040204020203" pitchFamily="34" charset="0"/>
                <a:ea typeface="Gadugi" panose="020B0502040204020203" pitchFamily="34" charset="0"/>
              </a:rPr>
              <a:t>DEVICE POPULARITY BY STATE</a:t>
            </a:r>
            <a:endParaRPr lang="en-IN" b="1" dirty="0">
              <a:solidFill>
                <a:schemeClr val="accent5"/>
              </a:solidFill>
              <a:latin typeface="Gadugi" panose="020B0502040204020203" pitchFamily="34" charset="0"/>
              <a:ea typeface="Gadugi" panose="020B0502040204020203" pitchFamily="34" charset="0"/>
            </a:endParaRPr>
          </a:p>
        </p:txBody>
      </p:sp>
      <p:sp>
        <p:nvSpPr>
          <p:cNvPr id="4" name="Content Placeholder 3">
            <a:extLst>
              <a:ext uri="{FF2B5EF4-FFF2-40B4-BE49-F238E27FC236}">
                <a16:creationId xmlns:a16="http://schemas.microsoft.com/office/drawing/2014/main" id="{BDDC65B2-C29E-4080-8F80-8A899EDC05C1}"/>
              </a:ext>
            </a:extLst>
          </p:cNvPr>
          <p:cNvSpPr>
            <a:spLocks noGrp="1"/>
          </p:cNvSpPr>
          <p:nvPr>
            <p:ph sz="half" idx="2"/>
          </p:nvPr>
        </p:nvSpPr>
        <p:spPr/>
        <p:txBody>
          <a:bodyPr>
            <a:noAutofit/>
          </a:bodyPr>
          <a:lstStyle/>
          <a:p>
            <a:r>
              <a:rPr lang="en-US" sz="2400" dirty="0">
                <a:solidFill>
                  <a:schemeClr val="bg1"/>
                </a:solidFill>
              </a:rPr>
              <a:t>Analysis of device popularity by state shows Xiaomi as the leading smartphone brand nationwide, followed by Samsung, Vivo, Oppo, and Realme. Apple and OnePlus have limited but significant adoption in metro regions. Budget-friendly Android devices dominate the market, reflecting the demographic trend of mass adoption of affordable smartphones for digital payments.</a:t>
            </a:r>
            <a:endParaRPr lang="en-IN" sz="2400" dirty="0">
              <a:solidFill>
                <a:schemeClr val="bg1"/>
              </a:solidFill>
            </a:endParaRPr>
          </a:p>
        </p:txBody>
      </p:sp>
      <p:pic>
        <p:nvPicPr>
          <p:cNvPr id="8" name="Content Placeholder 7">
            <a:extLst>
              <a:ext uri="{FF2B5EF4-FFF2-40B4-BE49-F238E27FC236}">
                <a16:creationId xmlns:a16="http://schemas.microsoft.com/office/drawing/2014/main" id="{B3298C80-ABC2-46B6-94E4-FAF25A76480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2857" y="1825625"/>
            <a:ext cx="5656943" cy="4351338"/>
          </a:xfrm>
        </p:spPr>
      </p:pic>
    </p:spTree>
    <p:extLst>
      <p:ext uri="{BB962C8B-B14F-4D97-AF65-F5344CB8AC3E}">
        <p14:creationId xmlns:p14="http://schemas.microsoft.com/office/powerpoint/2010/main" val="4168725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0500-311E-489E-A375-205A724DE16F}"/>
              </a:ext>
            </a:extLst>
          </p:cNvPr>
          <p:cNvSpPr>
            <a:spLocks noGrp="1"/>
          </p:cNvSpPr>
          <p:nvPr>
            <p:ph type="title"/>
          </p:nvPr>
        </p:nvSpPr>
        <p:spPr>
          <a:xfrm>
            <a:off x="449943" y="365125"/>
            <a:ext cx="11263086" cy="1325563"/>
          </a:xfrm>
        </p:spPr>
        <p:txBody>
          <a:bodyPr/>
          <a:lstStyle/>
          <a:p>
            <a:r>
              <a:rPr lang="en-US" b="1" dirty="0">
                <a:solidFill>
                  <a:schemeClr val="accent5"/>
                </a:solidFill>
                <a:latin typeface="Gadugi" panose="020B0502040204020203" pitchFamily="34" charset="0"/>
                <a:ea typeface="Gadugi" panose="020B0502040204020203" pitchFamily="34" charset="0"/>
              </a:rPr>
              <a:t>      YEAR-WISE USER DISTRIBUTION BY</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CATEGORY</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1EE84F39-9607-4482-9407-C403049B5F6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49943" y="1825625"/>
            <a:ext cx="5569857" cy="4351338"/>
          </a:xfrm>
        </p:spPr>
      </p:pic>
      <p:sp>
        <p:nvSpPr>
          <p:cNvPr id="4" name="Content Placeholder 3">
            <a:extLst>
              <a:ext uri="{FF2B5EF4-FFF2-40B4-BE49-F238E27FC236}">
                <a16:creationId xmlns:a16="http://schemas.microsoft.com/office/drawing/2014/main" id="{86A88E09-44EA-48BD-8B20-528ED3F0C035}"/>
              </a:ext>
            </a:extLst>
          </p:cNvPr>
          <p:cNvSpPr>
            <a:spLocks noGrp="1"/>
          </p:cNvSpPr>
          <p:nvPr>
            <p:ph sz="half" idx="2"/>
          </p:nvPr>
        </p:nvSpPr>
        <p:spPr/>
        <p:txBody>
          <a:bodyPr/>
          <a:lstStyle/>
          <a:p>
            <a:r>
              <a:rPr lang="en-US" dirty="0">
                <a:solidFill>
                  <a:schemeClr val="bg1"/>
                </a:solidFill>
              </a:rPr>
              <a:t>Xiaomi consistently leads user adoption on PhonePe from 2018–2022, followed by Vivo and Samsung. The dominance of mid-range Android brands highlights affordability and market reach across India. Gradual user growth each year reflects increasing smartphone-based digital payments penetration.</a:t>
            </a:r>
            <a:endParaRPr lang="en-IN" dirty="0">
              <a:solidFill>
                <a:schemeClr val="bg1"/>
              </a:solidFill>
            </a:endParaRPr>
          </a:p>
        </p:txBody>
      </p:sp>
    </p:spTree>
    <p:extLst>
      <p:ext uri="{BB962C8B-B14F-4D97-AF65-F5344CB8AC3E}">
        <p14:creationId xmlns:p14="http://schemas.microsoft.com/office/powerpoint/2010/main" val="4034949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08A37-FE0C-4A94-91E5-D672E170F1BC}"/>
              </a:ext>
            </a:extLst>
          </p:cNvPr>
          <p:cNvSpPr>
            <a:spLocks noGrp="1"/>
          </p:cNvSpPr>
          <p:nvPr>
            <p:ph type="title"/>
          </p:nvPr>
        </p:nvSpPr>
        <p:spPr/>
        <p:txBody>
          <a:bodyPr/>
          <a:lstStyle/>
          <a:p>
            <a:r>
              <a:rPr lang="en-US" b="1" dirty="0">
                <a:solidFill>
                  <a:schemeClr val="accent5"/>
                </a:solidFill>
                <a:latin typeface="Gadugi" panose="020B0502040204020203" pitchFamily="34" charset="0"/>
                <a:ea typeface="Gadugi" panose="020B0502040204020203" pitchFamily="34" charset="0"/>
              </a:rPr>
              <a:t>           LOW UTILIZED DEVICES</a:t>
            </a:r>
            <a:endParaRPr lang="en-IN" dirty="0"/>
          </a:p>
        </p:txBody>
      </p:sp>
      <p:sp>
        <p:nvSpPr>
          <p:cNvPr id="4" name="Content Placeholder 3">
            <a:extLst>
              <a:ext uri="{FF2B5EF4-FFF2-40B4-BE49-F238E27FC236}">
                <a16:creationId xmlns:a16="http://schemas.microsoft.com/office/drawing/2014/main" id="{F81031BA-AE58-451A-A8AB-141FA23926B5}"/>
              </a:ext>
            </a:extLst>
          </p:cNvPr>
          <p:cNvSpPr>
            <a:spLocks noGrp="1"/>
          </p:cNvSpPr>
          <p:nvPr>
            <p:ph sz="half" idx="2"/>
          </p:nvPr>
        </p:nvSpPr>
        <p:spPr/>
        <p:txBody>
          <a:bodyPr>
            <a:normAutofit lnSpcReduction="10000"/>
          </a:bodyPr>
          <a:lstStyle/>
          <a:p>
            <a:r>
              <a:rPr lang="en-US" dirty="0">
                <a:solidFill>
                  <a:schemeClr val="bg1"/>
                </a:solidFill>
              </a:rPr>
              <a:t>Analysis of low-utilized devices on PhonePe shows that premium devices like Apple, OnePlus, and Huawei, as well as niche and legacy devices like Micromax, Infinix, Lava, and Lyf, contribute below-average activity. This indicates that the bulk of digital payment transactions are concentrated on widely adopted budget and mid-range Android devices. </a:t>
            </a:r>
            <a:endParaRPr lang="en-IN" dirty="0">
              <a:solidFill>
                <a:schemeClr val="bg1"/>
              </a:solidFill>
            </a:endParaRPr>
          </a:p>
          <a:p>
            <a:endParaRPr lang="en-IN" dirty="0">
              <a:solidFill>
                <a:schemeClr val="bg1"/>
              </a:solidFill>
            </a:endParaRPr>
          </a:p>
        </p:txBody>
      </p:sp>
      <p:pic>
        <p:nvPicPr>
          <p:cNvPr id="5" name="Content Placeholder 5">
            <a:extLst>
              <a:ext uri="{FF2B5EF4-FFF2-40B4-BE49-F238E27FC236}">
                <a16:creationId xmlns:a16="http://schemas.microsoft.com/office/drawing/2014/main" id="{ADD0FFD4-E8C8-4EC7-BD76-B195F30A45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1886" y="1825625"/>
            <a:ext cx="5627914" cy="4351338"/>
          </a:xfrm>
        </p:spPr>
      </p:pic>
    </p:spTree>
    <p:extLst>
      <p:ext uri="{BB962C8B-B14F-4D97-AF65-F5344CB8AC3E}">
        <p14:creationId xmlns:p14="http://schemas.microsoft.com/office/powerpoint/2010/main" val="4163156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F8F8-420C-4EDC-BDCB-A9D54F892E41}"/>
              </a:ext>
            </a:extLst>
          </p:cNvPr>
          <p:cNvSpPr>
            <a:spLocks noGrp="1"/>
          </p:cNvSpPr>
          <p:nvPr>
            <p:ph type="title"/>
          </p:nvPr>
        </p:nvSpPr>
        <p:spPr/>
        <p:txBody>
          <a:bodyPr/>
          <a:lstStyle/>
          <a:p>
            <a:r>
              <a:rPr lang="en-US" b="1" dirty="0">
                <a:solidFill>
                  <a:schemeClr val="accent5"/>
                </a:solidFill>
                <a:latin typeface="Gadugi" panose="020B0502040204020203" pitchFamily="34" charset="0"/>
                <a:ea typeface="Gadugi" panose="020B0502040204020203" pitchFamily="34" charset="0"/>
              </a:rPr>
              <a:t>    TOP 10 STATES BY USER ACTIVITY</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9BBC970A-F09D-48C0-A013-4FB4914BADB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6364" y="1825625"/>
            <a:ext cx="5673436" cy="4351338"/>
          </a:xfrm>
        </p:spPr>
      </p:pic>
      <p:sp>
        <p:nvSpPr>
          <p:cNvPr id="4" name="Content Placeholder 3">
            <a:extLst>
              <a:ext uri="{FF2B5EF4-FFF2-40B4-BE49-F238E27FC236}">
                <a16:creationId xmlns:a16="http://schemas.microsoft.com/office/drawing/2014/main" id="{E11E3420-EBDB-45F7-8639-FACBB8F9CE81}"/>
              </a:ext>
            </a:extLst>
          </p:cNvPr>
          <p:cNvSpPr>
            <a:spLocks noGrp="1"/>
          </p:cNvSpPr>
          <p:nvPr>
            <p:ph sz="half" idx="2"/>
          </p:nvPr>
        </p:nvSpPr>
        <p:spPr/>
        <p:txBody>
          <a:bodyPr/>
          <a:lstStyle/>
          <a:p>
            <a:r>
              <a:rPr lang="en-US" dirty="0">
                <a:solidFill>
                  <a:schemeClr val="bg1"/>
                </a:solidFill>
              </a:rPr>
              <a:t>Maharashtra leads in user activity on PhonePe, followed by Uttar Pradesh and Karnataka.</a:t>
            </a:r>
            <a:br>
              <a:rPr lang="en-US" dirty="0">
                <a:solidFill>
                  <a:schemeClr val="bg1"/>
                </a:solidFill>
              </a:rPr>
            </a:br>
            <a:r>
              <a:rPr lang="en-US" dirty="0">
                <a:solidFill>
                  <a:schemeClr val="bg1"/>
                </a:solidFill>
              </a:rPr>
              <a:t>High engagement in southern and western states highlights stronger digital adoption, while usage in smaller states remains comparatively low.</a:t>
            </a:r>
            <a:endParaRPr lang="en-IN" dirty="0">
              <a:solidFill>
                <a:schemeClr val="bg1"/>
              </a:solidFill>
            </a:endParaRPr>
          </a:p>
        </p:txBody>
      </p:sp>
    </p:spTree>
    <p:extLst>
      <p:ext uri="{BB962C8B-B14F-4D97-AF65-F5344CB8AC3E}">
        <p14:creationId xmlns:p14="http://schemas.microsoft.com/office/powerpoint/2010/main" val="3315804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BF6FF-A645-461F-850A-B4B1C3A0E909}"/>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QUARTERLY ACTIVITY</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F32DA112-9B04-42D2-9ED6-630C24EE2B7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06400" y="1825625"/>
            <a:ext cx="5613400" cy="4351338"/>
          </a:xfrm>
        </p:spPr>
      </p:pic>
      <p:sp>
        <p:nvSpPr>
          <p:cNvPr id="4" name="Content Placeholder 3">
            <a:extLst>
              <a:ext uri="{FF2B5EF4-FFF2-40B4-BE49-F238E27FC236}">
                <a16:creationId xmlns:a16="http://schemas.microsoft.com/office/drawing/2014/main" id="{90786DB8-B1E1-41FA-8EE4-2BB2B5A49499}"/>
              </a:ext>
            </a:extLst>
          </p:cNvPr>
          <p:cNvSpPr>
            <a:spLocks noGrp="1"/>
          </p:cNvSpPr>
          <p:nvPr>
            <p:ph sz="half" idx="2"/>
          </p:nvPr>
        </p:nvSpPr>
        <p:spPr>
          <a:xfrm>
            <a:off x="6172200" y="1825625"/>
            <a:ext cx="5181600" cy="4351338"/>
          </a:xfrm>
        </p:spPr>
        <p:txBody>
          <a:bodyPr>
            <a:normAutofit/>
          </a:bodyPr>
          <a:lstStyle/>
          <a:p>
            <a:r>
              <a:rPr lang="en-US" dirty="0">
                <a:solidFill>
                  <a:schemeClr val="bg1"/>
                </a:solidFill>
              </a:rPr>
              <a:t>Quarterly PhonePe activity shows strong, consistent growth from 2018 to 2021, with user activity increasing each quarter. Peak activity occurs in Q4 of each year, reflecting seasonal and festival-driven usage. Overall, the trend highlights rapid adoption of digital payments in India over the four-year period.</a:t>
            </a:r>
            <a:endParaRPr lang="en-IN" dirty="0">
              <a:solidFill>
                <a:schemeClr val="bg1"/>
              </a:solidFill>
            </a:endParaRPr>
          </a:p>
        </p:txBody>
      </p:sp>
    </p:spTree>
    <p:extLst>
      <p:ext uri="{BB962C8B-B14F-4D97-AF65-F5344CB8AC3E}">
        <p14:creationId xmlns:p14="http://schemas.microsoft.com/office/powerpoint/2010/main" val="3996610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92E2-3DC6-4E8B-B84F-254A4E2EC808}"/>
              </a:ext>
            </a:extLst>
          </p:cNvPr>
          <p:cNvSpPr>
            <a:spLocks noGrp="1"/>
          </p:cNvSpPr>
          <p:nvPr>
            <p:ph type="title"/>
          </p:nvPr>
        </p:nvSpPr>
        <p:spPr>
          <a:xfrm>
            <a:off x="1041400" y="292553"/>
            <a:ext cx="10515600" cy="1325563"/>
          </a:xfrm>
        </p:spPr>
        <p:txBody>
          <a:bodyPr>
            <a:normAutofit fontScale="90000"/>
          </a:bodyPr>
          <a:lstStyle/>
          <a:p>
            <a:r>
              <a:rPr lang="en-US" b="1" dirty="0"/>
              <a:t>           </a:t>
            </a:r>
            <a:r>
              <a:rPr lang="en-US" sz="4000" b="1" dirty="0">
                <a:solidFill>
                  <a:schemeClr val="bg1"/>
                </a:solidFill>
                <a:latin typeface="Times New Roman" panose="02020603050405020304" pitchFamily="18" charset="0"/>
                <a:cs typeface="Times New Roman" panose="02020603050405020304" pitchFamily="18" charset="0"/>
              </a:rPr>
              <a:t>CASE 5 INSURANCE TRANSACTION</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                                ANALYSIS</a:t>
            </a:r>
            <a:br>
              <a:rPr lang="en-US" sz="4000" b="1" dirty="0">
                <a:solidFill>
                  <a:schemeClr val="bg1"/>
                </a:solidFill>
                <a:latin typeface="Times New Roman" panose="02020603050405020304" pitchFamily="18" charset="0"/>
                <a:cs typeface="Times New Roman" panose="02020603050405020304" pitchFamily="18" charset="0"/>
              </a:rPr>
            </a:br>
            <a:r>
              <a:rPr lang="en-US" b="1" dirty="0"/>
              <a:t>       </a:t>
            </a:r>
            <a:r>
              <a:rPr lang="en-US" b="1" dirty="0">
                <a:solidFill>
                  <a:schemeClr val="accent5"/>
                </a:solidFill>
                <a:latin typeface="Gadugi" panose="020B0502040204020203" pitchFamily="34" charset="0"/>
                <a:ea typeface="Gadugi" panose="020B0502040204020203" pitchFamily="34" charset="0"/>
              </a:rPr>
              <a:t>INSURANCE TRANSACTION BY STATE</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B95A6773-E7A2-4E5B-B703-8A9B53BBB27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77371" y="1825625"/>
            <a:ext cx="5642429" cy="4351337"/>
          </a:xfrm>
        </p:spPr>
      </p:pic>
      <p:sp>
        <p:nvSpPr>
          <p:cNvPr id="4" name="Content Placeholder 3">
            <a:extLst>
              <a:ext uri="{FF2B5EF4-FFF2-40B4-BE49-F238E27FC236}">
                <a16:creationId xmlns:a16="http://schemas.microsoft.com/office/drawing/2014/main" id="{B3D07816-EAD2-48A9-A46C-36A882064644}"/>
              </a:ext>
            </a:extLst>
          </p:cNvPr>
          <p:cNvSpPr>
            <a:spLocks noGrp="1"/>
          </p:cNvSpPr>
          <p:nvPr>
            <p:ph sz="half" idx="2"/>
          </p:nvPr>
        </p:nvSpPr>
        <p:spPr/>
        <p:txBody>
          <a:bodyPr/>
          <a:lstStyle/>
          <a:p>
            <a:r>
              <a:rPr lang="en-US" dirty="0">
                <a:solidFill>
                  <a:schemeClr val="bg1"/>
                </a:solidFill>
              </a:rPr>
              <a:t>Karnataka, Maharashtra, and Tamil Nadu are the highest contributors to insurance transactions.</a:t>
            </a:r>
          </a:p>
          <a:p>
            <a:endParaRPr lang="en-US" dirty="0">
              <a:solidFill>
                <a:schemeClr val="bg1"/>
              </a:solidFill>
            </a:endParaRPr>
          </a:p>
          <a:p>
            <a:r>
              <a:rPr lang="en-US" dirty="0">
                <a:solidFill>
                  <a:schemeClr val="bg1"/>
                </a:solidFill>
              </a:rPr>
              <a:t>These states are likely to have higher insurance adoption due to urbanization, financial literacy, and insurance penetration.</a:t>
            </a:r>
            <a:endParaRPr lang="en-IN" dirty="0">
              <a:solidFill>
                <a:schemeClr val="bg1"/>
              </a:solidFill>
            </a:endParaRPr>
          </a:p>
        </p:txBody>
      </p:sp>
    </p:spTree>
    <p:extLst>
      <p:ext uri="{BB962C8B-B14F-4D97-AF65-F5344CB8AC3E}">
        <p14:creationId xmlns:p14="http://schemas.microsoft.com/office/powerpoint/2010/main" val="1143134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D801-E19D-4936-8AA1-AC9BA76AC02A}"/>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YEAR-WISE INSURANCE</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TRANSACTIONS </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CDFA5A04-22B0-4FB1-ADF7-2F4F5B3B6B2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35429" y="1825625"/>
            <a:ext cx="5584371" cy="4351338"/>
          </a:xfrm>
        </p:spPr>
      </p:pic>
      <p:sp>
        <p:nvSpPr>
          <p:cNvPr id="4" name="Content Placeholder 3">
            <a:extLst>
              <a:ext uri="{FF2B5EF4-FFF2-40B4-BE49-F238E27FC236}">
                <a16:creationId xmlns:a16="http://schemas.microsoft.com/office/drawing/2014/main" id="{C169FF0B-1129-4119-8FAD-8B824755639D}"/>
              </a:ext>
            </a:extLst>
          </p:cNvPr>
          <p:cNvSpPr>
            <a:spLocks noGrp="1"/>
          </p:cNvSpPr>
          <p:nvPr>
            <p:ph sz="half" idx="2"/>
          </p:nvPr>
        </p:nvSpPr>
        <p:spPr/>
        <p:txBody>
          <a:bodyPr/>
          <a:lstStyle/>
          <a:p>
            <a:r>
              <a:rPr lang="en-US" dirty="0">
                <a:solidFill>
                  <a:schemeClr val="bg1"/>
                </a:solidFill>
              </a:rPr>
              <a:t>Steady increase from 2020 → 2024, showing rapid adoption of insurance. Clear upward trajectory; reflects rising digital insurance usage and expanding market opportunities.</a:t>
            </a:r>
            <a:endParaRPr lang="en-IN" dirty="0">
              <a:solidFill>
                <a:schemeClr val="bg1"/>
              </a:solidFill>
            </a:endParaRPr>
          </a:p>
        </p:txBody>
      </p:sp>
    </p:spTree>
    <p:extLst>
      <p:ext uri="{BB962C8B-B14F-4D97-AF65-F5344CB8AC3E}">
        <p14:creationId xmlns:p14="http://schemas.microsoft.com/office/powerpoint/2010/main" val="990598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4D25-E4CD-4A3D-9B86-8BE123CCBF12}"/>
              </a:ext>
            </a:extLst>
          </p:cNvPr>
          <p:cNvSpPr>
            <a:spLocks noGrp="1"/>
          </p:cNvSpPr>
          <p:nvPr>
            <p:ph type="title"/>
          </p:nvPr>
        </p:nvSpPr>
        <p:spPr/>
        <p:txBody>
          <a:bodyPr>
            <a:normAutofit fontScale="90000"/>
          </a:bodyPr>
          <a:lstStyle/>
          <a:p>
            <a:r>
              <a:rPr lang="en-US" dirty="0"/>
              <a:t>    </a:t>
            </a:r>
            <a:r>
              <a:rPr lang="en-US" b="1" dirty="0">
                <a:solidFill>
                  <a:schemeClr val="accent5"/>
                </a:solidFill>
                <a:latin typeface="Gadugi" panose="020B0502040204020203" pitchFamily="34" charset="0"/>
                <a:ea typeface="Gadugi" panose="020B0502040204020203" pitchFamily="34" charset="0"/>
              </a:rPr>
              <a:t>TOP STATES WITH HIGHEST GROWTH IN </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TRANSACTION IN A YEAR</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48E0E966-4F73-45CB-A6E8-7097925B7CE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1886" y="1825625"/>
            <a:ext cx="5627914" cy="4351337"/>
          </a:xfrm>
        </p:spPr>
      </p:pic>
      <p:sp>
        <p:nvSpPr>
          <p:cNvPr id="4" name="Content Placeholder 3">
            <a:extLst>
              <a:ext uri="{FF2B5EF4-FFF2-40B4-BE49-F238E27FC236}">
                <a16:creationId xmlns:a16="http://schemas.microsoft.com/office/drawing/2014/main" id="{65F0F139-F5E7-4F03-B7F0-A6BBF5FD0017}"/>
              </a:ext>
            </a:extLst>
          </p:cNvPr>
          <p:cNvSpPr>
            <a:spLocks noGrp="1"/>
          </p:cNvSpPr>
          <p:nvPr>
            <p:ph sz="half" idx="2"/>
          </p:nvPr>
        </p:nvSpPr>
        <p:spPr/>
        <p:txBody>
          <a:bodyPr>
            <a:normAutofit lnSpcReduction="10000"/>
          </a:bodyPr>
          <a:lstStyle/>
          <a:p>
            <a:r>
              <a:rPr lang="en-US" dirty="0">
                <a:solidFill>
                  <a:schemeClr val="bg1"/>
                </a:solidFill>
              </a:rPr>
              <a:t>Lakshadweep and Andaman &amp; Nicobar Islands saw exceptional insurance transaction growth (875% and 689%) — a sign of rapid digital adoption from a low base. Jammu &amp; Kashmir and Ladakh also demonstrated strong growth post-2020.Kerala’s 325% surge in 2022 indicates expanding insurance awareness and digital penetration in mature markets.</a:t>
            </a:r>
            <a:endParaRPr lang="en-IN" dirty="0">
              <a:solidFill>
                <a:schemeClr val="bg1"/>
              </a:solidFill>
            </a:endParaRPr>
          </a:p>
        </p:txBody>
      </p:sp>
    </p:spTree>
    <p:extLst>
      <p:ext uri="{BB962C8B-B14F-4D97-AF65-F5344CB8AC3E}">
        <p14:creationId xmlns:p14="http://schemas.microsoft.com/office/powerpoint/2010/main" val="484365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1A16-1F2B-46EC-B72A-7A00D6A728C4}"/>
              </a:ext>
            </a:extLst>
          </p:cNvPr>
          <p:cNvSpPr>
            <a:spLocks noGrp="1"/>
          </p:cNvSpPr>
          <p:nvPr>
            <p:ph type="title"/>
          </p:nvPr>
        </p:nvSpPr>
        <p:spPr/>
        <p:txBody>
          <a:bodyPr/>
          <a:lstStyle/>
          <a:p>
            <a:r>
              <a:rPr lang="en-US" dirty="0"/>
              <a:t>  </a:t>
            </a:r>
            <a:r>
              <a:rPr lang="en-US" b="1" dirty="0">
                <a:solidFill>
                  <a:schemeClr val="accent5"/>
                </a:solidFill>
                <a:latin typeface="Gadugi" panose="020B0502040204020203" pitchFamily="34" charset="0"/>
                <a:ea typeface="Gadugi" panose="020B0502040204020203" pitchFamily="34" charset="0"/>
              </a:rPr>
              <a:t>TOTAL INSURANCE AMOUNT OVER</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YEARS</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0E7E87A6-77EE-4F9E-8746-A26F04753CC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04800" y="1825625"/>
            <a:ext cx="5715000" cy="4351337"/>
          </a:xfrm>
        </p:spPr>
      </p:pic>
      <p:sp>
        <p:nvSpPr>
          <p:cNvPr id="4" name="Content Placeholder 3">
            <a:extLst>
              <a:ext uri="{FF2B5EF4-FFF2-40B4-BE49-F238E27FC236}">
                <a16:creationId xmlns:a16="http://schemas.microsoft.com/office/drawing/2014/main" id="{4D3B03D7-A29E-4FFC-9CA4-90DAA62FE495}"/>
              </a:ext>
            </a:extLst>
          </p:cNvPr>
          <p:cNvSpPr>
            <a:spLocks noGrp="1"/>
          </p:cNvSpPr>
          <p:nvPr>
            <p:ph sz="half" idx="2"/>
          </p:nvPr>
        </p:nvSpPr>
        <p:spPr/>
        <p:txBody>
          <a:bodyPr/>
          <a:lstStyle/>
          <a:p>
            <a:r>
              <a:rPr lang="en-IN" dirty="0">
                <a:solidFill>
                  <a:schemeClr val="bg1"/>
                </a:solidFill>
              </a:rPr>
              <a:t>Indicates expanding insurance adoption and larger transaction amounts. </a:t>
            </a:r>
            <a:r>
              <a:rPr lang="en-US" dirty="0">
                <a:solidFill>
                  <a:schemeClr val="bg1"/>
                </a:solidFill>
              </a:rPr>
              <a:t>Rising trend reflects digital penetration and financial inclusion in India.</a:t>
            </a:r>
          </a:p>
          <a:p>
            <a:endParaRPr lang="en-IN" dirty="0">
              <a:solidFill>
                <a:schemeClr val="bg1"/>
              </a:solidFill>
            </a:endParaRPr>
          </a:p>
        </p:txBody>
      </p:sp>
    </p:spTree>
    <p:extLst>
      <p:ext uri="{BB962C8B-B14F-4D97-AF65-F5344CB8AC3E}">
        <p14:creationId xmlns:p14="http://schemas.microsoft.com/office/powerpoint/2010/main" val="1012007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DCF63-1152-4565-BC0F-040269D81FF6}"/>
              </a:ext>
            </a:extLst>
          </p:cNvPr>
          <p:cNvSpPr>
            <a:spLocks noGrp="1"/>
          </p:cNvSpPr>
          <p:nvPr>
            <p:ph type="title"/>
          </p:nvPr>
        </p:nvSpPr>
        <p:spPr/>
        <p:txBody>
          <a:bodyPr>
            <a:normAutofit fontScale="90000"/>
          </a:bodyPr>
          <a:lstStyle/>
          <a:p>
            <a:r>
              <a:rPr lang="en-US" dirty="0"/>
              <a:t>      </a:t>
            </a:r>
            <a:r>
              <a:rPr lang="en-US" b="1" dirty="0">
                <a:solidFill>
                  <a:schemeClr val="accent5"/>
                </a:solidFill>
                <a:latin typeface="Gadugi" panose="020B0502040204020203" pitchFamily="34" charset="0"/>
                <a:ea typeface="Gadugi" panose="020B0502040204020203" pitchFamily="34" charset="0"/>
              </a:rPr>
              <a:t>TOP STATES BY AVERAGE QUARTERLY</a:t>
            </a:r>
            <a:br>
              <a:rPr lang="en-US" b="1" dirty="0">
                <a:solidFill>
                  <a:schemeClr val="accent5"/>
                </a:solidFill>
                <a:latin typeface="Gadugi" panose="020B0502040204020203" pitchFamily="34" charset="0"/>
                <a:ea typeface="Gadugi" panose="020B0502040204020203" pitchFamily="34" charset="0"/>
              </a:rPr>
            </a:br>
            <a:r>
              <a:rPr lang="en-US" b="1" dirty="0">
                <a:solidFill>
                  <a:schemeClr val="accent5"/>
                </a:solidFill>
                <a:latin typeface="Gadugi" panose="020B0502040204020203" pitchFamily="34" charset="0"/>
                <a:ea typeface="Gadugi" panose="020B0502040204020203" pitchFamily="34" charset="0"/>
              </a:rPr>
              <a:t>                           GROWTH</a:t>
            </a:r>
            <a:endParaRPr lang="en-IN" b="1" dirty="0">
              <a:solidFill>
                <a:schemeClr val="accent5"/>
              </a:solidFill>
              <a:latin typeface="Gadugi" panose="020B0502040204020203" pitchFamily="34" charset="0"/>
              <a:ea typeface="Gadugi" panose="020B0502040204020203" pitchFamily="34" charset="0"/>
            </a:endParaRPr>
          </a:p>
        </p:txBody>
      </p:sp>
      <p:pic>
        <p:nvPicPr>
          <p:cNvPr id="6" name="Content Placeholder 5">
            <a:extLst>
              <a:ext uri="{FF2B5EF4-FFF2-40B4-BE49-F238E27FC236}">
                <a16:creationId xmlns:a16="http://schemas.microsoft.com/office/drawing/2014/main" id="{518A6DA1-A866-4A26-9906-5963B7C970D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88686" y="1825625"/>
            <a:ext cx="5831114" cy="4351337"/>
          </a:xfrm>
        </p:spPr>
      </p:pic>
      <p:sp>
        <p:nvSpPr>
          <p:cNvPr id="4" name="Content Placeholder 3">
            <a:extLst>
              <a:ext uri="{FF2B5EF4-FFF2-40B4-BE49-F238E27FC236}">
                <a16:creationId xmlns:a16="http://schemas.microsoft.com/office/drawing/2014/main" id="{4A6A1AF7-5AEB-46D8-8B51-0A3DC83C2139}"/>
              </a:ext>
            </a:extLst>
          </p:cNvPr>
          <p:cNvSpPr>
            <a:spLocks noGrp="1"/>
          </p:cNvSpPr>
          <p:nvPr>
            <p:ph sz="half" idx="2"/>
          </p:nvPr>
        </p:nvSpPr>
        <p:spPr/>
        <p:txBody>
          <a:bodyPr/>
          <a:lstStyle/>
          <a:p>
            <a:r>
              <a:rPr lang="en-US" dirty="0">
                <a:solidFill>
                  <a:schemeClr val="bg1"/>
                </a:solidFill>
              </a:rPr>
              <a:t>Karnataka leads with the highest average quarterly insurance transactions, followed by Maharashtra and Tamil Nadu. The dominance of these states indicates strong insurance adoption and higher digital penetration in southern and western India.</a:t>
            </a:r>
            <a:endParaRPr lang="en-IN" dirty="0">
              <a:solidFill>
                <a:schemeClr val="bg1"/>
              </a:solidFill>
            </a:endParaRPr>
          </a:p>
        </p:txBody>
      </p:sp>
    </p:spTree>
    <p:extLst>
      <p:ext uri="{BB962C8B-B14F-4D97-AF65-F5344CB8AC3E}">
        <p14:creationId xmlns:p14="http://schemas.microsoft.com/office/powerpoint/2010/main" val="2774683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61107A-AAA3-4C4F-849C-45C56AE4FC70}"/>
              </a:ext>
            </a:extLst>
          </p:cNvPr>
          <p:cNvSpPr>
            <a:spLocks noGrp="1"/>
          </p:cNvSpPr>
          <p:nvPr>
            <p:ph type="ctrTitle"/>
          </p:nvPr>
        </p:nvSpPr>
        <p:spPr/>
        <p:txBody>
          <a:bodyPr>
            <a:normAutofit fontScale="90000"/>
          </a:bodyPr>
          <a:lstStyle/>
          <a:p>
            <a:r>
              <a:rPr lang="en-US" sz="9600" b="1" dirty="0">
                <a:solidFill>
                  <a:schemeClr val="accent5"/>
                </a:solidFill>
                <a:latin typeface="Bell MT" panose="02020503060305020303" pitchFamily="18" charset="0"/>
              </a:rPr>
              <a:t>STREAMLIT    DASHBOARD</a:t>
            </a:r>
            <a:endParaRPr lang="en-IN" sz="9600" b="1" dirty="0">
              <a:solidFill>
                <a:schemeClr val="accent5"/>
              </a:solidFill>
              <a:latin typeface="Bell MT" panose="02020503060305020303" pitchFamily="18" charset="0"/>
            </a:endParaRPr>
          </a:p>
        </p:txBody>
      </p:sp>
    </p:spTree>
    <p:extLst>
      <p:ext uri="{BB962C8B-B14F-4D97-AF65-F5344CB8AC3E}">
        <p14:creationId xmlns:p14="http://schemas.microsoft.com/office/powerpoint/2010/main" val="3629583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566B92-9635-445E-B56B-78BDF17C95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286" y="261257"/>
            <a:ext cx="11684000" cy="6429829"/>
          </a:xfrm>
          <a:prstGeom prst="rect">
            <a:avLst/>
          </a:prstGeom>
        </p:spPr>
      </p:pic>
    </p:spTree>
    <p:extLst>
      <p:ext uri="{BB962C8B-B14F-4D97-AF65-F5344CB8AC3E}">
        <p14:creationId xmlns:p14="http://schemas.microsoft.com/office/powerpoint/2010/main" val="2031954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C77E63-A603-47C3-92B4-FB1A3071AE8F}"/>
              </a:ext>
            </a:extLst>
          </p:cNvPr>
          <p:cNvSpPr>
            <a:spLocks noGrp="1"/>
          </p:cNvSpPr>
          <p:nvPr>
            <p:ph type="title"/>
          </p:nvPr>
        </p:nvSpPr>
        <p:spPr>
          <a:xfrm>
            <a:off x="838200" y="365126"/>
            <a:ext cx="10515600" cy="912132"/>
          </a:xfrm>
        </p:spPr>
        <p:txBody>
          <a:bodyPr>
            <a:normAutofit/>
          </a:bodyPr>
          <a:lstStyle/>
          <a:p>
            <a:r>
              <a:rPr lang="en-US" sz="36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rPr>
              <a:t>TRANSACTION TREND FOR ALL INDIA</a:t>
            </a:r>
            <a:endParaRPr lang="en-IN" sz="36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544340AC-6235-40EB-9486-02D4A5E808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3829" y="1465943"/>
            <a:ext cx="11582400" cy="5196114"/>
          </a:xfrm>
        </p:spPr>
      </p:pic>
    </p:spTree>
    <p:extLst>
      <p:ext uri="{BB962C8B-B14F-4D97-AF65-F5344CB8AC3E}">
        <p14:creationId xmlns:p14="http://schemas.microsoft.com/office/powerpoint/2010/main" val="43821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16E04-F3E1-4941-B3C1-85273474142A}"/>
              </a:ext>
            </a:extLst>
          </p:cNvPr>
          <p:cNvSpPr>
            <a:spLocks noGrp="1"/>
          </p:cNvSpPr>
          <p:nvPr>
            <p:ph type="title"/>
          </p:nvPr>
        </p:nvSpPr>
        <p:spPr/>
        <p:txBody>
          <a:bodyPr>
            <a:normAutofit/>
          </a:bodyPr>
          <a:lstStyle/>
          <a:p>
            <a:r>
              <a:rPr lang="en-US" sz="40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rPr>
              <a:t>TOP 10 STATES BY TRANSACTION VALUE</a:t>
            </a:r>
            <a:endParaRPr lang="en-IN" sz="40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AA425F0-594A-46B1-A484-B14303E417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2513" y="1509486"/>
            <a:ext cx="11234057" cy="5123543"/>
          </a:xfrm>
        </p:spPr>
      </p:pic>
    </p:spTree>
    <p:extLst>
      <p:ext uri="{BB962C8B-B14F-4D97-AF65-F5344CB8AC3E}">
        <p14:creationId xmlns:p14="http://schemas.microsoft.com/office/powerpoint/2010/main" val="1566352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630AC-23E2-4927-8E38-AE2028AF8282}"/>
              </a:ext>
            </a:extLst>
          </p:cNvPr>
          <p:cNvSpPr>
            <a:spLocks noGrp="1"/>
          </p:cNvSpPr>
          <p:nvPr>
            <p:ph type="title"/>
          </p:nvPr>
        </p:nvSpPr>
        <p:spPr/>
        <p:txBody>
          <a:bodyPr/>
          <a:lstStyle/>
          <a:p>
            <a:r>
              <a:rPr lang="en-US"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rPr>
              <a:t>INSIGHTS</a:t>
            </a:r>
            <a:endParaRPr lang="en-IN"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A3F94C-D3D2-4FB1-9D2C-8FCC08CE2FD1}"/>
              </a:ext>
            </a:extLst>
          </p:cNvPr>
          <p:cNvSpPr>
            <a:spLocks noGrp="1"/>
          </p:cNvSpPr>
          <p:nvPr>
            <p:ph idx="1"/>
          </p:nvPr>
        </p:nvSpPr>
        <p:spPr/>
        <p:txBody>
          <a:bodyPr/>
          <a:lstStyle/>
          <a:p>
            <a:pPr algn="l">
              <a:buClr>
                <a:schemeClr val="accent5"/>
              </a:buClr>
              <a:buFont typeface="Wingdings" panose="05000000000000000000" pitchFamily="2" charset="2"/>
              <a:buChar char="Ø"/>
            </a:pPr>
            <a:r>
              <a:rPr lang="en-US" b="0" i="0" dirty="0">
                <a:solidFill>
                  <a:schemeClr val="bg1"/>
                </a:solidFill>
                <a:effectLst/>
                <a:latin typeface="Times New Roman" panose="02020603050405020304" pitchFamily="18" charset="0"/>
                <a:cs typeface="Times New Roman" panose="02020603050405020304" pitchFamily="18" charset="0"/>
              </a:rPr>
              <a:t> Southern states like Andhra Pradesh, Telangana, and Karnataka lead transaction volumes.</a:t>
            </a:r>
          </a:p>
          <a:p>
            <a:pPr algn="l">
              <a:buClr>
                <a:schemeClr val="accent5"/>
              </a:buClr>
              <a:buFont typeface="Wingdings" panose="05000000000000000000" pitchFamily="2" charset="2"/>
              <a:buChar char="Ø"/>
            </a:pPr>
            <a:endParaRPr lang="en-US" b="0" i="0" dirty="0">
              <a:solidFill>
                <a:schemeClr val="bg1"/>
              </a:solidFill>
              <a:effectLst/>
              <a:latin typeface="Times New Roman" panose="02020603050405020304" pitchFamily="18" charset="0"/>
              <a:cs typeface="Times New Roman" panose="02020603050405020304" pitchFamily="18" charset="0"/>
            </a:endParaRPr>
          </a:p>
          <a:p>
            <a:pPr algn="l">
              <a:buClr>
                <a:schemeClr val="accent5"/>
              </a:buClr>
              <a:buFont typeface="Wingdings" panose="05000000000000000000" pitchFamily="2" charset="2"/>
              <a:buChar char="Ø"/>
            </a:pPr>
            <a:r>
              <a:rPr lang="en-US" b="0" i="0" dirty="0">
                <a:solidFill>
                  <a:schemeClr val="bg1"/>
                </a:solidFill>
                <a:effectLst/>
                <a:latin typeface="Times New Roman" panose="02020603050405020304" pitchFamily="18" charset="0"/>
                <a:cs typeface="Times New Roman" panose="02020603050405020304" pitchFamily="18" charset="0"/>
              </a:rPr>
              <a:t> Consistent year-on-year growth shows India's increasing digital payment adoption.</a:t>
            </a:r>
          </a:p>
          <a:p>
            <a:pPr algn="l">
              <a:buClr>
                <a:schemeClr val="accent5"/>
              </a:buClr>
              <a:buFont typeface="Wingdings" panose="05000000000000000000" pitchFamily="2" charset="2"/>
              <a:buChar char="Ø"/>
            </a:pPr>
            <a:endParaRPr lang="en-US" b="0" i="0" dirty="0">
              <a:solidFill>
                <a:schemeClr val="bg1"/>
              </a:solidFill>
              <a:effectLst/>
              <a:latin typeface="Times New Roman" panose="02020603050405020304" pitchFamily="18" charset="0"/>
              <a:cs typeface="Times New Roman" panose="02020603050405020304" pitchFamily="18" charset="0"/>
            </a:endParaRPr>
          </a:p>
          <a:p>
            <a:pPr algn="l">
              <a:buClr>
                <a:schemeClr val="accent5"/>
              </a:buClr>
              <a:buFont typeface="Wingdings" panose="05000000000000000000" pitchFamily="2" charset="2"/>
              <a:buChar char="Ø"/>
            </a:pPr>
            <a:r>
              <a:rPr lang="en-US" b="0" i="0" dirty="0">
                <a:solidFill>
                  <a:schemeClr val="bg1"/>
                </a:solidFill>
                <a:effectLst/>
                <a:latin typeface="Times New Roman" panose="02020603050405020304" pitchFamily="18" charset="0"/>
                <a:cs typeface="Times New Roman" panose="02020603050405020304" pitchFamily="18" charset="0"/>
              </a:rPr>
              <a:t> Peer-to-peer and merchant payments are dominant across states.</a:t>
            </a:r>
          </a:p>
          <a:p>
            <a:pPr>
              <a:buClr>
                <a:schemeClr val="accent5"/>
              </a:buClr>
              <a:buFont typeface="Wingdings" panose="05000000000000000000" pitchFamily="2" charset="2"/>
              <a:buChar char="Ø"/>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960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083C-BCAB-42AB-91CE-14E63D93DA6C}"/>
              </a:ext>
            </a:extLst>
          </p:cNvPr>
          <p:cNvSpPr>
            <a:spLocks noGrp="1"/>
          </p:cNvSpPr>
          <p:nvPr>
            <p:ph type="title"/>
          </p:nvPr>
        </p:nvSpPr>
        <p:spPr/>
        <p:txBody>
          <a:bodyPr>
            <a:normAutofit/>
          </a:bodyPr>
          <a:lstStyle/>
          <a:p>
            <a:r>
              <a:rPr lang="en-US" sz="40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rPr>
              <a:t>INSURANCE POLICIES BY STATES</a:t>
            </a:r>
            <a:endParaRPr lang="en-IN" sz="40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C1E5233-945D-4EB0-96F7-9DB2D6FD0C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743" y="1451429"/>
            <a:ext cx="11582400" cy="5210628"/>
          </a:xfrm>
        </p:spPr>
      </p:pic>
    </p:spTree>
    <p:extLst>
      <p:ext uri="{BB962C8B-B14F-4D97-AF65-F5344CB8AC3E}">
        <p14:creationId xmlns:p14="http://schemas.microsoft.com/office/powerpoint/2010/main" val="4086946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3ED-66F8-4AA7-8CB4-30DBB53E2E9A}"/>
              </a:ext>
            </a:extLst>
          </p:cNvPr>
          <p:cNvSpPr>
            <a:spLocks noGrp="1"/>
          </p:cNvSpPr>
          <p:nvPr>
            <p:ph type="title"/>
          </p:nvPr>
        </p:nvSpPr>
        <p:spPr/>
        <p:txBody>
          <a:bodyPr>
            <a:normAutofit/>
          </a:bodyPr>
          <a:lstStyle/>
          <a:p>
            <a:r>
              <a:rPr lang="en-US" sz="40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rPr>
              <a:t>YEARLY GROWTH TREND</a:t>
            </a:r>
            <a:endParaRPr lang="en-IN" sz="4000"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13A2AE7-E064-4503-9C9A-52A41B5F66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457" y="1422400"/>
            <a:ext cx="11451772" cy="5225143"/>
          </a:xfrm>
        </p:spPr>
      </p:pic>
    </p:spTree>
    <p:extLst>
      <p:ext uri="{BB962C8B-B14F-4D97-AF65-F5344CB8AC3E}">
        <p14:creationId xmlns:p14="http://schemas.microsoft.com/office/powerpoint/2010/main" val="3222846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056C2-46A1-496B-BE16-AD117BAB8658}"/>
              </a:ext>
            </a:extLst>
          </p:cNvPr>
          <p:cNvSpPr>
            <a:spLocks noGrp="1"/>
          </p:cNvSpPr>
          <p:nvPr>
            <p:ph type="title"/>
          </p:nvPr>
        </p:nvSpPr>
        <p:spPr/>
        <p:txBody>
          <a:bodyPr/>
          <a:lstStyle/>
          <a:p>
            <a:r>
              <a:rPr lang="en-US"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rPr>
              <a:t>INSIGHTS</a:t>
            </a:r>
            <a:endParaRPr lang="en-IN" b="1" dirty="0">
              <a:solidFill>
                <a:schemeClr val="accent5"/>
              </a:solidFill>
              <a:latin typeface="Times New Roman" panose="02020603050405020304" pitchFamily="18" charset="0"/>
              <a:ea typeface="Gadugi" panose="020B05020402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E3E2E4-C64E-4412-B04E-997A08AE71B5}"/>
              </a:ext>
            </a:extLst>
          </p:cNvPr>
          <p:cNvSpPr>
            <a:spLocks noGrp="1"/>
          </p:cNvSpPr>
          <p:nvPr>
            <p:ph idx="1"/>
          </p:nvPr>
        </p:nvSpPr>
        <p:spPr/>
        <p:txBody>
          <a:bodyPr/>
          <a:lstStyle/>
          <a:p>
            <a:pPr algn="l">
              <a:buClr>
                <a:schemeClr val="accent5"/>
              </a:buClr>
              <a:buFont typeface="Wingdings" panose="05000000000000000000" pitchFamily="2" charset="2"/>
              <a:buChar char="Ø"/>
            </a:pPr>
            <a:r>
              <a:rPr lang="en-US" b="0" i="0" dirty="0">
                <a:solidFill>
                  <a:schemeClr val="bg1"/>
                </a:solidFill>
                <a:effectLst/>
                <a:latin typeface="Times New Roman" panose="02020603050405020304" pitchFamily="18" charset="0"/>
                <a:cs typeface="Times New Roman" panose="02020603050405020304" pitchFamily="18" charset="0"/>
              </a:rPr>
              <a:t> In </a:t>
            </a:r>
            <a:r>
              <a:rPr lang="en-US" b="1" i="0" dirty="0">
                <a:solidFill>
                  <a:schemeClr val="bg1"/>
                </a:solidFill>
                <a:effectLst/>
                <a:latin typeface="Times New Roman" panose="02020603050405020304" pitchFamily="18" charset="0"/>
                <a:cs typeface="Times New Roman" panose="02020603050405020304" pitchFamily="18" charset="0"/>
              </a:rPr>
              <a:t>{selected_year}</a:t>
            </a:r>
            <a:r>
              <a:rPr lang="en-US" b="0" i="0" dirty="0">
                <a:solidFill>
                  <a:schemeClr val="bg1"/>
                </a:solidFill>
                <a:effectLst/>
                <a:latin typeface="Times New Roman" panose="02020603050405020304" pitchFamily="18" charset="0"/>
                <a:cs typeface="Times New Roman" panose="02020603050405020304" pitchFamily="18" charset="0"/>
              </a:rPr>
              <a:t>, Karnataka, Maharashtra, and Tamil Nadu lead in total insurance policies, confirming high penetration in digitally mature regions.</a:t>
            </a:r>
          </a:p>
          <a:p>
            <a:pPr algn="l">
              <a:buClr>
                <a:schemeClr val="accent5"/>
              </a:buClr>
              <a:buFont typeface="Wingdings" panose="05000000000000000000" pitchFamily="2" charset="2"/>
              <a:buChar char="Ø"/>
            </a:pPr>
            <a:endParaRPr lang="en-US" b="0" i="0" dirty="0">
              <a:solidFill>
                <a:schemeClr val="bg1"/>
              </a:solidFill>
              <a:effectLst/>
              <a:latin typeface="Times New Roman" panose="02020603050405020304" pitchFamily="18" charset="0"/>
              <a:cs typeface="Times New Roman" panose="02020603050405020304" pitchFamily="18" charset="0"/>
            </a:endParaRPr>
          </a:p>
          <a:p>
            <a:pPr algn="l">
              <a:buClr>
                <a:schemeClr val="accent5"/>
              </a:buClr>
              <a:buFont typeface="Wingdings" panose="05000000000000000000" pitchFamily="2" charset="2"/>
              <a:buChar char="Ø"/>
            </a:pPr>
            <a:r>
              <a:rPr lang="en-US" b="0" i="0" dirty="0">
                <a:solidFill>
                  <a:schemeClr val="bg1"/>
                </a:solidFill>
                <a:effectLst/>
                <a:latin typeface="Times New Roman" panose="02020603050405020304" pitchFamily="18" charset="0"/>
                <a:cs typeface="Times New Roman" panose="02020603050405020304" pitchFamily="18" charset="0"/>
              </a:rPr>
              <a:t> The horizontal bar chart highlights clear state-wise differences, while the line chart shows consistent multi-year growth patterns among the top performers.</a:t>
            </a:r>
          </a:p>
          <a:p>
            <a:pPr>
              <a:buClr>
                <a:schemeClr val="accent5"/>
              </a:buClr>
              <a:buFont typeface="Wingdings" panose="05000000000000000000" pitchFamily="2" charset="2"/>
              <a:buChar char="Ø"/>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90375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2FF8D-7FCA-4F09-9071-4FA3390A0E1F}"/>
              </a:ext>
            </a:extLst>
          </p:cNvPr>
          <p:cNvSpPr>
            <a:spLocks noGrp="1"/>
          </p:cNvSpPr>
          <p:nvPr>
            <p:ph type="title"/>
          </p:nvPr>
        </p:nvSpPr>
        <p:spPr>
          <a:xfrm>
            <a:off x="838200" y="365126"/>
            <a:ext cx="10515600" cy="912132"/>
          </a:xfrm>
        </p:spPr>
        <p:txBody>
          <a:bodyPr>
            <a:normAutofit/>
          </a:bodyPr>
          <a:lstStyle/>
          <a:p>
            <a:r>
              <a:rPr lang="en-US" sz="4000" b="1" dirty="0">
                <a:solidFill>
                  <a:schemeClr val="accent5"/>
                </a:solidFill>
                <a:latin typeface="Times New Roman" panose="02020603050405020304" pitchFamily="18" charset="0"/>
                <a:cs typeface="Times New Roman" panose="02020603050405020304" pitchFamily="18" charset="0"/>
              </a:rPr>
              <a:t>GROWTH PERCENTAGE BY STATE</a:t>
            </a:r>
            <a:endParaRPr lang="en-IN" sz="4000" b="1" dirty="0">
              <a:solidFill>
                <a:schemeClr val="accent5"/>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32F3BBB-8744-45DE-A536-4F96C20C18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314" y="1422400"/>
            <a:ext cx="11640457" cy="5254171"/>
          </a:xfrm>
        </p:spPr>
      </p:pic>
    </p:spTree>
    <p:extLst>
      <p:ext uri="{BB962C8B-B14F-4D97-AF65-F5344CB8AC3E}">
        <p14:creationId xmlns:p14="http://schemas.microsoft.com/office/powerpoint/2010/main" val="2284158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BA7F-A31A-4A7D-938C-4B98E8A1F330}"/>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INSIGHTS</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3DA06C-6EE4-4427-9502-CD21416F6D89}"/>
              </a:ext>
            </a:extLst>
          </p:cNvPr>
          <p:cNvSpPr>
            <a:spLocks noGrp="1"/>
          </p:cNvSpPr>
          <p:nvPr>
            <p:ph idx="1"/>
          </p:nvPr>
        </p:nvSpPr>
        <p:spPr/>
        <p:txBody>
          <a:bodyPr/>
          <a:lstStyle/>
          <a:p>
            <a:pPr>
              <a:buClr>
                <a:schemeClr val="accent5"/>
              </a:buClr>
              <a:buFont typeface="Wingdings" panose="05000000000000000000" pitchFamily="2" charset="2"/>
              <a:buChar char="Ø"/>
            </a:pPr>
            <a:r>
              <a:rPr lang="en-IN" b="0" i="0" dirty="0">
                <a:solidFill>
                  <a:schemeClr val="bg1"/>
                </a:solidFill>
                <a:effectLst/>
                <a:latin typeface="+mj-lt"/>
              </a:rPr>
              <a:t> Green regions indicate strong market growth, signaling higher transaction expansion.</a:t>
            </a:r>
          </a:p>
          <a:p>
            <a:pPr>
              <a:buClr>
                <a:schemeClr val="accent5"/>
              </a:buClr>
              <a:buFont typeface="Wingdings" panose="05000000000000000000" pitchFamily="2" charset="2"/>
              <a:buChar char="Ø"/>
            </a:pPr>
            <a:endParaRPr lang="en-IN" b="0" i="0" dirty="0">
              <a:solidFill>
                <a:schemeClr val="bg1"/>
              </a:solidFill>
              <a:effectLst/>
              <a:latin typeface="+mj-lt"/>
            </a:endParaRPr>
          </a:p>
          <a:p>
            <a:pPr>
              <a:buClr>
                <a:schemeClr val="accent5"/>
              </a:buClr>
              <a:buFont typeface="Wingdings" panose="05000000000000000000" pitchFamily="2" charset="2"/>
              <a:buChar char="Ø"/>
            </a:pPr>
            <a:r>
              <a:rPr lang="en-IN" b="0" i="0" dirty="0">
                <a:solidFill>
                  <a:schemeClr val="bg1"/>
                </a:solidFill>
                <a:effectLst/>
                <a:latin typeface="+mj-lt"/>
              </a:rPr>
              <a:t> Red/Brown regions highlight slower or negative growth, requiring strategic focus.</a:t>
            </a:r>
          </a:p>
          <a:p>
            <a:pPr>
              <a:buClr>
                <a:schemeClr val="accent5"/>
              </a:buClr>
              <a:buFont typeface="Wingdings" panose="05000000000000000000" pitchFamily="2" charset="2"/>
              <a:buChar char="Ø"/>
            </a:pPr>
            <a:endParaRPr lang="en-IN" b="0" i="0" dirty="0">
              <a:solidFill>
                <a:schemeClr val="bg1"/>
              </a:solidFill>
              <a:effectLst/>
              <a:latin typeface="+mj-lt"/>
            </a:endParaRPr>
          </a:p>
          <a:p>
            <a:pPr>
              <a:buClr>
                <a:schemeClr val="accent5"/>
              </a:buClr>
              <a:buFont typeface="Wingdings" panose="05000000000000000000" pitchFamily="2" charset="2"/>
              <a:buChar char="Ø"/>
            </a:pPr>
            <a:r>
              <a:rPr lang="en-IN" b="0" i="0" dirty="0">
                <a:solidFill>
                  <a:schemeClr val="bg1"/>
                </a:solidFill>
                <a:effectLst/>
                <a:latin typeface="+mj-lt"/>
              </a:rPr>
              <a:t> States like Karnataka, Maharashtra, and Uttar Pradesh consistently show high transaction volumes and stable growth.</a:t>
            </a:r>
            <a:endParaRPr lang="en-IN" dirty="0">
              <a:solidFill>
                <a:schemeClr val="bg1"/>
              </a:solidFill>
              <a:latin typeface="+mj-lt"/>
            </a:endParaRPr>
          </a:p>
        </p:txBody>
      </p:sp>
    </p:spTree>
    <p:extLst>
      <p:ext uri="{BB962C8B-B14F-4D97-AF65-F5344CB8AC3E}">
        <p14:creationId xmlns:p14="http://schemas.microsoft.com/office/powerpoint/2010/main" val="1169399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E384-D006-4360-8DB9-E4447D39738D}"/>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DEVICE BRAND SHARE</a:t>
            </a:r>
            <a:endParaRPr lang="en-IN" b="1" dirty="0">
              <a:solidFill>
                <a:schemeClr val="accent5"/>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EF69C02-8942-4D5B-8916-E24F19AA90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257" y="1538514"/>
            <a:ext cx="11553371" cy="5065486"/>
          </a:xfrm>
        </p:spPr>
      </p:pic>
    </p:spTree>
    <p:extLst>
      <p:ext uri="{BB962C8B-B14F-4D97-AF65-F5344CB8AC3E}">
        <p14:creationId xmlns:p14="http://schemas.microsoft.com/office/powerpoint/2010/main" val="3957718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0C1D-98B0-4BC1-AAC8-55D4942D3D67}"/>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INSIGHTS</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12AEDE-23AF-4AC0-8BAC-FCA25DBAF010}"/>
              </a:ext>
            </a:extLst>
          </p:cNvPr>
          <p:cNvSpPr>
            <a:spLocks noGrp="1"/>
          </p:cNvSpPr>
          <p:nvPr>
            <p:ph idx="1"/>
          </p:nvPr>
        </p:nvSpPr>
        <p:spPr/>
        <p:txBody>
          <a:bodyPr>
            <a:normAutofit lnSpcReduction="10000"/>
          </a:bodyPr>
          <a:lstStyle/>
          <a:p>
            <a:pPr algn="l">
              <a:buClr>
                <a:schemeClr val="accent5"/>
              </a:buClr>
              <a:buFont typeface="Wingdings" panose="05000000000000000000" pitchFamily="2" charset="2"/>
              <a:buChar char="Ø"/>
            </a:pPr>
            <a:r>
              <a:rPr lang="en-US" b="0" i="0" dirty="0">
                <a:solidFill>
                  <a:srgbClr val="FAFAFA"/>
                </a:solidFill>
                <a:effectLst/>
                <a:latin typeface="Source Sans"/>
              </a:rPr>
              <a:t> The pie chart shows which mobile brands dominate PhonePe usage in this state.</a:t>
            </a:r>
          </a:p>
          <a:p>
            <a:pPr algn="l">
              <a:buClr>
                <a:schemeClr val="accent5"/>
              </a:buClr>
              <a:buFont typeface="Wingdings" panose="05000000000000000000" pitchFamily="2" charset="2"/>
              <a:buChar char="Ø"/>
            </a:pPr>
            <a:endParaRPr lang="en-US" b="0" i="0" dirty="0">
              <a:solidFill>
                <a:srgbClr val="FAFAFA"/>
              </a:solidFill>
              <a:effectLst/>
              <a:latin typeface="Source Sans"/>
            </a:endParaRPr>
          </a:p>
          <a:p>
            <a:pPr algn="l">
              <a:buClr>
                <a:schemeClr val="accent5"/>
              </a:buClr>
              <a:buFont typeface="Wingdings" panose="05000000000000000000" pitchFamily="2" charset="2"/>
              <a:buChar char="Ø"/>
            </a:pPr>
            <a:r>
              <a:rPr lang="en-US" b="0" i="0" dirty="0">
                <a:solidFill>
                  <a:srgbClr val="FAFAFA"/>
                </a:solidFill>
                <a:effectLst/>
                <a:latin typeface="Source Sans"/>
              </a:rPr>
              <a:t> Xiaomi, Samsung, and Vivo often lead in user count.</a:t>
            </a:r>
          </a:p>
          <a:p>
            <a:pPr algn="l">
              <a:buClr>
                <a:schemeClr val="accent5"/>
              </a:buClr>
              <a:buFont typeface="Wingdings" panose="05000000000000000000" pitchFamily="2" charset="2"/>
              <a:buChar char="Ø"/>
            </a:pPr>
            <a:endParaRPr lang="en-US" b="0" i="0" dirty="0">
              <a:solidFill>
                <a:srgbClr val="FAFAFA"/>
              </a:solidFill>
              <a:effectLst/>
              <a:latin typeface="Source Sans"/>
            </a:endParaRPr>
          </a:p>
          <a:p>
            <a:pPr algn="l">
              <a:buClr>
                <a:schemeClr val="accent5"/>
              </a:buClr>
              <a:buFont typeface="Wingdings" panose="05000000000000000000" pitchFamily="2" charset="2"/>
              <a:buChar char="Ø"/>
            </a:pPr>
            <a:r>
              <a:rPr lang="en-US" b="0" i="0" dirty="0">
                <a:solidFill>
                  <a:srgbClr val="FAFAFA"/>
                </a:solidFill>
                <a:effectLst/>
                <a:latin typeface="Source Sans"/>
              </a:rPr>
              <a:t> Apple and OnePlus have a stronger share in metro or high-income regions.</a:t>
            </a:r>
          </a:p>
          <a:p>
            <a:pPr algn="l">
              <a:buClr>
                <a:schemeClr val="accent5"/>
              </a:buClr>
              <a:buFont typeface="Wingdings" panose="05000000000000000000" pitchFamily="2" charset="2"/>
              <a:buChar char="Ø"/>
            </a:pPr>
            <a:endParaRPr lang="en-US" b="0" i="0" dirty="0">
              <a:solidFill>
                <a:srgbClr val="FAFAFA"/>
              </a:solidFill>
              <a:effectLst/>
              <a:latin typeface="Source Sans"/>
            </a:endParaRPr>
          </a:p>
          <a:p>
            <a:pPr algn="l">
              <a:buClr>
                <a:schemeClr val="accent5"/>
              </a:buClr>
              <a:buFont typeface="Wingdings" panose="05000000000000000000" pitchFamily="2" charset="2"/>
              <a:buChar char="Ø"/>
            </a:pPr>
            <a:r>
              <a:rPr lang="en-US" b="0" i="0" dirty="0">
                <a:solidFill>
                  <a:srgbClr val="FAFAFA"/>
                </a:solidFill>
                <a:effectLst/>
                <a:latin typeface="Source Sans"/>
              </a:rPr>
              <a:t> Helps identify user engagement patterns based on device brand preference.</a:t>
            </a:r>
          </a:p>
          <a:p>
            <a:pPr>
              <a:buClr>
                <a:schemeClr val="accent5"/>
              </a:buClr>
              <a:buFont typeface="Wingdings" panose="05000000000000000000" pitchFamily="2" charset="2"/>
              <a:buChar char="Ø"/>
            </a:pPr>
            <a:endParaRPr lang="en-IN" dirty="0"/>
          </a:p>
        </p:txBody>
      </p:sp>
    </p:spTree>
    <p:extLst>
      <p:ext uri="{BB962C8B-B14F-4D97-AF65-F5344CB8AC3E}">
        <p14:creationId xmlns:p14="http://schemas.microsoft.com/office/powerpoint/2010/main" val="1026851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FFCD0-9DDD-4ACB-8FF7-DC48C890E67E}"/>
              </a:ext>
            </a:extLst>
          </p:cNvPr>
          <p:cNvSpPr>
            <a:spLocks noGrp="1"/>
          </p:cNvSpPr>
          <p:nvPr>
            <p:ph type="title"/>
          </p:nvPr>
        </p:nvSpPr>
        <p:spPr/>
        <p:txBody>
          <a:bodyPr>
            <a:normAutofit fontScale="90000"/>
          </a:bodyPr>
          <a:lstStyle/>
          <a:p>
            <a:r>
              <a:rPr lang="en-US" dirty="0"/>
              <a:t>    </a:t>
            </a:r>
            <a:r>
              <a:rPr lang="en-US" sz="4000" b="1" dirty="0">
                <a:solidFill>
                  <a:schemeClr val="accent5"/>
                </a:solidFill>
                <a:latin typeface="Times New Roman" panose="02020603050405020304" pitchFamily="18" charset="0"/>
                <a:cs typeface="Times New Roman" panose="02020603050405020304" pitchFamily="18" charset="0"/>
              </a:rPr>
              <a:t>TOP 5 STATES WITH HIGHEST GROWTH IN</a:t>
            </a:r>
            <a:br>
              <a:rPr lang="en-US" sz="4000" b="1" dirty="0">
                <a:solidFill>
                  <a:schemeClr val="accent5"/>
                </a:solidFill>
                <a:latin typeface="Times New Roman" panose="02020603050405020304" pitchFamily="18" charset="0"/>
                <a:cs typeface="Times New Roman" panose="02020603050405020304" pitchFamily="18" charset="0"/>
              </a:rPr>
            </a:br>
            <a:r>
              <a:rPr lang="en-US" sz="4000" b="1" dirty="0">
                <a:solidFill>
                  <a:schemeClr val="accent5"/>
                </a:solidFill>
                <a:latin typeface="Times New Roman" panose="02020603050405020304" pitchFamily="18" charset="0"/>
                <a:cs typeface="Times New Roman" panose="02020603050405020304" pitchFamily="18" charset="0"/>
              </a:rPr>
              <a:t>              TRANSACTIONS IN A YEAR</a:t>
            </a:r>
            <a:endParaRPr lang="en-IN" sz="4000" b="1" dirty="0">
              <a:solidFill>
                <a:schemeClr val="accent5"/>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FBBBA8C-37A5-46F3-8B5D-3E63D59527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5429" y="1690688"/>
            <a:ext cx="11451771" cy="4956855"/>
          </a:xfrm>
        </p:spPr>
      </p:pic>
    </p:spTree>
    <p:extLst>
      <p:ext uri="{BB962C8B-B14F-4D97-AF65-F5344CB8AC3E}">
        <p14:creationId xmlns:p14="http://schemas.microsoft.com/office/powerpoint/2010/main" val="31235188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4FB8-3F53-4059-9E94-DA2907FEB5A4}"/>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INSIGHTS</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C637E6-841E-4D7E-81E9-7ED457177A1B}"/>
              </a:ext>
            </a:extLst>
          </p:cNvPr>
          <p:cNvSpPr>
            <a:spLocks noGrp="1"/>
          </p:cNvSpPr>
          <p:nvPr>
            <p:ph idx="1"/>
          </p:nvPr>
        </p:nvSpPr>
        <p:spPr>
          <a:xfrm>
            <a:off x="838200" y="1567543"/>
            <a:ext cx="10515600" cy="4609420"/>
          </a:xfrm>
        </p:spPr>
        <p:txBody>
          <a:bodyPr>
            <a:normAutofit fontScale="92500" lnSpcReduction="20000"/>
          </a:bodyPr>
          <a:lstStyle/>
          <a:p>
            <a:pPr algn="l">
              <a:buClr>
                <a:schemeClr val="accent5"/>
              </a:buClr>
              <a:buFont typeface="Wingdings" panose="05000000000000000000" pitchFamily="2" charset="2"/>
              <a:buChar char="Ø"/>
            </a:pPr>
            <a:r>
              <a:rPr lang="en-US" b="0" i="0" dirty="0">
                <a:solidFill>
                  <a:srgbClr val="FAFAFA"/>
                </a:solidFill>
                <a:effectLst/>
                <a:latin typeface="Source Sans"/>
              </a:rPr>
              <a:t> Lakshadweep (875%) and Andaman &amp; Nicobar Islands (688.9%) lead with the sharpest insurance adoption jumps, driven by digital outreach in small populations.</a:t>
            </a:r>
          </a:p>
          <a:p>
            <a:pPr algn="l">
              <a:buClr>
                <a:schemeClr val="accent5"/>
              </a:buClr>
              <a:buFont typeface="Wingdings" panose="05000000000000000000" pitchFamily="2" charset="2"/>
              <a:buChar char="Ø"/>
            </a:pPr>
            <a:endParaRPr lang="en-US" b="0" i="0" dirty="0">
              <a:solidFill>
                <a:srgbClr val="FAFAFA"/>
              </a:solidFill>
              <a:effectLst/>
              <a:latin typeface="Source Sans"/>
            </a:endParaRPr>
          </a:p>
          <a:p>
            <a:pPr algn="l">
              <a:buClr>
                <a:schemeClr val="accent5"/>
              </a:buClr>
              <a:buFont typeface="Wingdings" panose="05000000000000000000" pitchFamily="2" charset="2"/>
              <a:buChar char="Ø"/>
            </a:pPr>
            <a:r>
              <a:rPr lang="en-US" b="0" i="0" dirty="0">
                <a:solidFill>
                  <a:srgbClr val="FAFAFA"/>
                </a:solidFill>
                <a:effectLst/>
                <a:latin typeface="Source Sans"/>
              </a:rPr>
              <a:t> Northern territories like Jammu &amp; Kashmir and Ladakh follow closely, showing increasing integration of insurance into financial habits.</a:t>
            </a:r>
          </a:p>
          <a:p>
            <a:pPr algn="l">
              <a:buClr>
                <a:schemeClr val="accent5"/>
              </a:buClr>
              <a:buFont typeface="Wingdings" panose="05000000000000000000" pitchFamily="2" charset="2"/>
              <a:buChar char="Ø"/>
            </a:pPr>
            <a:endParaRPr lang="en-US" b="0" i="0" dirty="0">
              <a:solidFill>
                <a:srgbClr val="FAFAFA"/>
              </a:solidFill>
              <a:effectLst/>
              <a:latin typeface="Source Sans"/>
            </a:endParaRPr>
          </a:p>
          <a:p>
            <a:pPr algn="l">
              <a:buClr>
                <a:schemeClr val="accent5"/>
              </a:buClr>
              <a:buFont typeface="Wingdings" panose="05000000000000000000" pitchFamily="2" charset="2"/>
              <a:buChar char="Ø"/>
            </a:pPr>
            <a:r>
              <a:rPr lang="en-US" b="0" i="0" dirty="0">
                <a:solidFill>
                  <a:srgbClr val="FAFAFA"/>
                </a:solidFill>
                <a:effectLst/>
                <a:latin typeface="Source Sans"/>
              </a:rPr>
              <a:t> Kerala (325%) reflects strong policyholder expansion, signaling regional trust in digital insurance systems.</a:t>
            </a:r>
          </a:p>
          <a:p>
            <a:pPr algn="l">
              <a:buClr>
                <a:schemeClr val="accent5"/>
              </a:buClr>
              <a:buFont typeface="Wingdings" panose="05000000000000000000" pitchFamily="2" charset="2"/>
              <a:buChar char="Ø"/>
            </a:pPr>
            <a:endParaRPr lang="en-US" b="0" i="0" dirty="0">
              <a:solidFill>
                <a:srgbClr val="FAFAFA"/>
              </a:solidFill>
              <a:effectLst/>
              <a:latin typeface="Source Sans"/>
            </a:endParaRPr>
          </a:p>
          <a:p>
            <a:pPr algn="l">
              <a:buClr>
                <a:schemeClr val="accent5"/>
              </a:buClr>
              <a:buFont typeface="Wingdings" panose="05000000000000000000" pitchFamily="2" charset="2"/>
              <a:buChar char="Ø"/>
            </a:pPr>
            <a:r>
              <a:rPr lang="en-US" b="0" i="0" dirty="0">
                <a:solidFill>
                  <a:srgbClr val="FAFAFA"/>
                </a:solidFill>
                <a:effectLst/>
                <a:latin typeface="Source Sans"/>
              </a:rPr>
              <a:t> The data highlights untapped growth opportunities in smaller or previously underrepresented regions.</a:t>
            </a:r>
          </a:p>
          <a:p>
            <a:pPr>
              <a:buClr>
                <a:schemeClr val="accent5"/>
              </a:buClr>
              <a:buFont typeface="Wingdings" panose="05000000000000000000" pitchFamily="2" charset="2"/>
              <a:buChar char="Ø"/>
            </a:pPr>
            <a:endParaRPr lang="en-IN" dirty="0"/>
          </a:p>
        </p:txBody>
      </p:sp>
    </p:spTree>
    <p:extLst>
      <p:ext uri="{BB962C8B-B14F-4D97-AF65-F5344CB8AC3E}">
        <p14:creationId xmlns:p14="http://schemas.microsoft.com/office/powerpoint/2010/main" val="1297566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4A6A-2FB6-42AE-8AD9-E634432CBF86}"/>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PROJECT OUTCOMES</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D507DB-7795-430D-AB51-FCE9F02BDAF0}"/>
              </a:ext>
            </a:extLst>
          </p:cNvPr>
          <p:cNvSpPr>
            <a:spLocks noGrp="1"/>
          </p:cNvSpPr>
          <p:nvPr>
            <p:ph idx="1"/>
          </p:nvPr>
        </p:nvSpPr>
        <p:spPr/>
        <p:txBody>
          <a:bodyPr/>
          <a:lstStyle/>
          <a:p>
            <a:pPr>
              <a:buClr>
                <a:schemeClr val="accent5"/>
              </a:buClr>
              <a:buFont typeface="Wingdings" panose="05000000000000000000" pitchFamily="2" charset="2"/>
              <a:buChar char="Ø"/>
            </a:pPr>
            <a:r>
              <a:rPr lang="en-IN" dirty="0">
                <a:solidFill>
                  <a:schemeClr val="bg1"/>
                </a:solidFill>
              </a:rPr>
              <a:t> Extracted &amp; cleaned data from MySQL</a:t>
            </a:r>
          </a:p>
          <a:p>
            <a:pPr>
              <a:buClr>
                <a:schemeClr val="accent5"/>
              </a:buClr>
              <a:buFont typeface="Wingdings" panose="05000000000000000000" pitchFamily="2" charset="2"/>
              <a:buChar char="Ø"/>
            </a:pPr>
            <a:endParaRPr lang="en-IN" dirty="0">
              <a:solidFill>
                <a:schemeClr val="bg1"/>
              </a:solidFill>
            </a:endParaRPr>
          </a:p>
          <a:p>
            <a:pPr>
              <a:buClr>
                <a:schemeClr val="accent5"/>
              </a:buClr>
              <a:buFont typeface="Wingdings" panose="05000000000000000000" pitchFamily="2" charset="2"/>
              <a:buChar char="Ø"/>
            </a:pPr>
            <a:r>
              <a:rPr lang="en-IN" dirty="0">
                <a:solidFill>
                  <a:schemeClr val="bg1"/>
                </a:solidFill>
              </a:rPr>
              <a:t> Created 25 SQL queries for 5 business cases</a:t>
            </a:r>
          </a:p>
          <a:p>
            <a:pPr>
              <a:buClr>
                <a:schemeClr val="accent5"/>
              </a:buClr>
              <a:buFont typeface="Wingdings" panose="05000000000000000000" pitchFamily="2" charset="2"/>
              <a:buChar char="Ø"/>
            </a:pPr>
            <a:endParaRPr lang="en-IN" dirty="0">
              <a:solidFill>
                <a:schemeClr val="bg1"/>
              </a:solidFill>
            </a:endParaRPr>
          </a:p>
          <a:p>
            <a:pPr>
              <a:buClr>
                <a:schemeClr val="accent5"/>
              </a:buClr>
              <a:buFont typeface="Wingdings" panose="05000000000000000000" pitchFamily="2" charset="2"/>
              <a:buChar char="Ø"/>
            </a:pPr>
            <a:r>
              <a:rPr lang="en-IN" dirty="0">
                <a:solidFill>
                  <a:schemeClr val="bg1"/>
                </a:solidFill>
              </a:rPr>
              <a:t> Built 10+ interactive charts</a:t>
            </a:r>
            <a:br>
              <a:rPr lang="en-IN" dirty="0">
                <a:solidFill>
                  <a:schemeClr val="bg1"/>
                </a:solidFill>
              </a:rPr>
            </a:br>
            <a:r>
              <a:rPr lang="en-IN" dirty="0">
                <a:solidFill>
                  <a:schemeClr val="bg1"/>
                </a:solidFill>
              </a:rPr>
              <a:t> </a:t>
            </a:r>
          </a:p>
          <a:p>
            <a:pPr>
              <a:buClr>
                <a:schemeClr val="accent5"/>
              </a:buClr>
              <a:buFont typeface="Wingdings" panose="05000000000000000000" pitchFamily="2" charset="2"/>
              <a:buChar char="Ø"/>
            </a:pPr>
            <a:r>
              <a:rPr lang="en-IN" dirty="0">
                <a:solidFill>
                  <a:schemeClr val="bg1"/>
                </a:solidFill>
              </a:rPr>
              <a:t> Designed a dynamic Streamlit dashboard</a:t>
            </a:r>
            <a:br>
              <a:rPr lang="en-IN" dirty="0">
                <a:solidFill>
                  <a:schemeClr val="bg1"/>
                </a:solidFill>
              </a:rPr>
            </a:br>
            <a:r>
              <a:rPr lang="en-IN" dirty="0">
                <a:solidFill>
                  <a:schemeClr val="bg1"/>
                </a:solidFill>
              </a:rPr>
              <a:t> </a:t>
            </a:r>
          </a:p>
          <a:p>
            <a:pPr>
              <a:buClr>
                <a:schemeClr val="accent5"/>
              </a:buClr>
              <a:buFont typeface="Wingdings" panose="05000000000000000000" pitchFamily="2" charset="2"/>
              <a:buChar char="Ø"/>
            </a:pPr>
            <a:r>
              <a:rPr lang="en-IN" dirty="0">
                <a:solidFill>
                  <a:schemeClr val="bg1"/>
                </a:solidFill>
              </a:rPr>
              <a:t> Derived meaningful insights for PhonePe’s market strategy</a:t>
            </a:r>
          </a:p>
        </p:txBody>
      </p:sp>
    </p:spTree>
    <p:extLst>
      <p:ext uri="{BB962C8B-B14F-4D97-AF65-F5344CB8AC3E}">
        <p14:creationId xmlns:p14="http://schemas.microsoft.com/office/powerpoint/2010/main" val="883156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5BB89-C3B0-4763-BF91-6F620446DB8C}"/>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CONCLUSION</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7CB176-C1FB-4D0F-BF6C-BC7FDC7ACD66}"/>
              </a:ext>
            </a:extLst>
          </p:cNvPr>
          <p:cNvSpPr>
            <a:spLocks noGrp="1"/>
          </p:cNvSpPr>
          <p:nvPr>
            <p:ph idx="1"/>
          </p:nvPr>
        </p:nvSpPr>
        <p:spPr/>
        <p:txBody>
          <a:bodyPr/>
          <a:lstStyle/>
          <a:p>
            <a:pPr>
              <a:buClr>
                <a:schemeClr val="accent5"/>
              </a:buClr>
              <a:buFont typeface="Wingdings" panose="05000000000000000000" pitchFamily="2" charset="2"/>
              <a:buChar char="Ø"/>
            </a:pPr>
            <a:r>
              <a:rPr lang="en-US" dirty="0">
                <a:solidFill>
                  <a:schemeClr val="bg1"/>
                </a:solidFill>
              </a:rPr>
              <a:t> This project demonstrates how SQL, Python, and Streamlit can be combined to deliver actionable business insights.</a:t>
            </a:r>
            <a:br>
              <a:rPr lang="en-US" dirty="0">
                <a:solidFill>
                  <a:schemeClr val="bg1"/>
                </a:solidFill>
              </a:rPr>
            </a:br>
            <a:endParaRPr lang="en-US" dirty="0">
              <a:solidFill>
                <a:schemeClr val="bg1"/>
              </a:solidFill>
            </a:endParaRPr>
          </a:p>
          <a:p>
            <a:pPr>
              <a:buClr>
                <a:schemeClr val="accent5"/>
              </a:buClr>
              <a:buFont typeface="Wingdings" panose="05000000000000000000" pitchFamily="2" charset="2"/>
              <a:buChar char="Ø"/>
            </a:pPr>
            <a:r>
              <a:rPr lang="en-US" dirty="0">
                <a:solidFill>
                  <a:schemeClr val="bg1"/>
                </a:solidFill>
              </a:rPr>
              <a:t> The findings reveal strong growth in digital transactions, with clear    regional and product-level opportunities for expansion.</a:t>
            </a:r>
            <a:endParaRPr lang="en-IN" dirty="0">
              <a:solidFill>
                <a:schemeClr val="bg1"/>
              </a:solidFill>
            </a:endParaRPr>
          </a:p>
        </p:txBody>
      </p:sp>
    </p:spTree>
    <p:extLst>
      <p:ext uri="{BB962C8B-B14F-4D97-AF65-F5344CB8AC3E}">
        <p14:creationId xmlns:p14="http://schemas.microsoft.com/office/powerpoint/2010/main" val="908799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54D0-4946-4FF5-A4E0-1B3E8416CFAC}"/>
              </a:ext>
            </a:extLst>
          </p:cNvPr>
          <p:cNvSpPr>
            <a:spLocks noGrp="1"/>
          </p:cNvSpPr>
          <p:nvPr>
            <p:ph type="title"/>
          </p:nvPr>
        </p:nvSpPr>
        <p:spPr/>
        <p:txBody>
          <a:bodyPr/>
          <a:lstStyle/>
          <a:p>
            <a:r>
              <a:rPr lang="en-US" b="1" dirty="0">
                <a:solidFill>
                  <a:schemeClr val="accent5"/>
                </a:solidFill>
                <a:latin typeface="Times New Roman" panose="02020603050405020304" pitchFamily="18" charset="0"/>
                <a:cs typeface="Times New Roman" panose="02020603050405020304" pitchFamily="18" charset="0"/>
              </a:rPr>
              <a:t>REFERENCES</a:t>
            </a:r>
            <a:endParaRPr lang="en-IN" b="1"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D942D7-6165-4B6A-BE08-9CC215616A1E}"/>
              </a:ext>
            </a:extLst>
          </p:cNvPr>
          <p:cNvSpPr>
            <a:spLocks noGrp="1"/>
          </p:cNvSpPr>
          <p:nvPr>
            <p:ph idx="1"/>
          </p:nvPr>
        </p:nvSpPr>
        <p:spPr/>
        <p:txBody>
          <a:bodyPr/>
          <a:lstStyle/>
          <a:p>
            <a:r>
              <a:rPr lang="en-IN" dirty="0">
                <a:solidFill>
                  <a:schemeClr val="bg1"/>
                </a:solidFill>
              </a:rPr>
              <a:t>https://github.com/ReginahubJ333/Phonepe-Transaction-Insights</a:t>
            </a:r>
          </a:p>
        </p:txBody>
      </p:sp>
    </p:spTree>
    <p:extLst>
      <p:ext uri="{BB962C8B-B14F-4D97-AF65-F5344CB8AC3E}">
        <p14:creationId xmlns:p14="http://schemas.microsoft.com/office/powerpoint/2010/main" val="4137819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2766</TotalTime>
  <Words>1928</Words>
  <Application>Microsoft Office PowerPoint</Application>
  <PresentationFormat>Widescreen</PresentationFormat>
  <Paragraphs>165</Paragraphs>
  <Slides>48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Bell MT</vt:lpstr>
      <vt:lpstr>Calibri</vt:lpstr>
      <vt:lpstr>Calibri Light</vt:lpstr>
      <vt:lpstr>Gadugi</vt:lpstr>
      <vt:lpstr>Source Sans</vt:lpstr>
      <vt:lpstr>Spectral</vt:lpstr>
      <vt:lpstr>Times New Roman</vt:lpstr>
      <vt:lpstr>Wingdings</vt:lpstr>
      <vt:lpstr>Office Theme</vt:lpstr>
      <vt:lpstr>            PHONEPE TRANSACTION INSIGHTS</vt:lpstr>
      <vt:lpstr>OBJECTIVE</vt:lpstr>
      <vt:lpstr>TOOLS &amp; TECHNOLOGIES</vt:lpstr>
      <vt:lpstr>DATASET OVERVIEW</vt:lpstr>
      <vt:lpstr>PROJECT OVERFLOW</vt:lpstr>
      <vt:lpstr>BUSINESS CASE OVERVIEW</vt:lpstr>
      <vt:lpstr>CASE 1 DECODING TRANSACTION DYNAMICS            STATE LEVEL PERFORMANCE</vt:lpstr>
      <vt:lpstr>            QUARTERLY GROWTH TREND</vt:lpstr>
      <vt:lpstr>       CATEGORY-WISE PERFORMANCE</vt:lpstr>
      <vt:lpstr>     HIGH AND LOW PERFORMING STATES</vt:lpstr>
      <vt:lpstr>   DISTRICT LEVEL PERFORMING ANALYSIS</vt:lpstr>
      <vt:lpstr>   CASE 2 INSURANCE PENETRATION &amp; GROWTH      TOP STATES BY INSURANCE POLICIES</vt:lpstr>
      <vt:lpstr>    STATES WITH LOWEST INSURANCE</vt:lpstr>
      <vt:lpstr>       STATE-WISE YEARLY INSURANCE POLICY                    DISTRIBUTON ANALYSIS</vt:lpstr>
      <vt:lpstr>           LOW PENETRATION STATES</vt:lpstr>
      <vt:lpstr>           QUARTERLY TREND ANALYSIS</vt:lpstr>
      <vt:lpstr>    CASE 3 TRANSACTION ANALYSIS FOR MARKET                                  EXPANSION                   TRANSACTION VOLUME BY STATE</vt:lpstr>
      <vt:lpstr> TOP DISTRICTS BY TRANSACTION VALUE</vt:lpstr>
      <vt:lpstr>TOP PINCODES BY TRANSACTION VALUE</vt:lpstr>
      <vt:lpstr>               YEAR ON YEAR GROWTH IN                TRANSACTION BY STATES</vt:lpstr>
      <vt:lpstr>     TRANSACTION VALUE BY STATE AND                          CATEGORY</vt:lpstr>
      <vt:lpstr>            CASE 4 DEVICE DOMINANCE &amp; USER                                     ENGAGEMENT                 DEVICE POPULARITY BY STATE</vt:lpstr>
      <vt:lpstr>      YEAR-WISE USER DISTRIBUTION BY                         CATEGORY</vt:lpstr>
      <vt:lpstr>           LOW UTILIZED DEVICES</vt:lpstr>
      <vt:lpstr>    TOP 10 STATES BY USER ACTIVITY</vt:lpstr>
      <vt:lpstr>                  QUARTERLY ACTIVITY</vt:lpstr>
      <vt:lpstr>           CASE 5 INSURANCE TRANSACTION                                 ANALYSIS        INSURANCE TRANSACTION BY STATE</vt:lpstr>
      <vt:lpstr>              YEAR-WISE INSURANCE                   TRANSACTIONS </vt:lpstr>
      <vt:lpstr>    TOP STATES WITH HIGHEST GROWTH IN              TRANSACTION IN A YEAR</vt:lpstr>
      <vt:lpstr>  TOTAL INSURANCE AMOUNT OVER                        YEARS</vt:lpstr>
      <vt:lpstr>      TOP STATES BY AVERAGE QUARTERLY                            GROWTH</vt:lpstr>
      <vt:lpstr>STREAMLIT    DASHBOARD</vt:lpstr>
      <vt:lpstr>PowerPoint Presentation</vt:lpstr>
      <vt:lpstr>TRANSACTION TREND FOR ALL INDIA</vt:lpstr>
      <vt:lpstr>TOP 10 STATES BY TRANSACTION VALUE</vt:lpstr>
      <vt:lpstr>INSIGHTS</vt:lpstr>
      <vt:lpstr>INSURANCE POLICIES BY STATES</vt:lpstr>
      <vt:lpstr>YEARLY GROWTH TREND</vt:lpstr>
      <vt:lpstr>INSIGHTS</vt:lpstr>
      <vt:lpstr>GROWTH PERCENTAGE BY STATE</vt:lpstr>
      <vt:lpstr>INSIGHTS</vt:lpstr>
      <vt:lpstr>DEVICE BRAND SHARE</vt:lpstr>
      <vt:lpstr>INSIGHTS</vt:lpstr>
      <vt:lpstr>    TOP 5 STATES WITH HIGHEST GROWTH IN               TRANSACTIONS IN A YEAR</vt:lpstr>
      <vt:lpstr>INSIGHTS</vt:lpstr>
      <vt:lpstr>PROJECT OUTCOMES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PHONEPE TRANSACTION INSIGHTS</dc:title>
  <dc:creator>Brighton</dc:creator>
  <cp:lastModifiedBy>Brighton</cp:lastModifiedBy>
  <cp:revision>40</cp:revision>
  <dcterms:created xsi:type="dcterms:W3CDTF">2025-10-31T07:51:39Z</dcterms:created>
  <dcterms:modified xsi:type="dcterms:W3CDTF">2025-11-05T15:02:54Z</dcterms:modified>
</cp:coreProperties>
</file>